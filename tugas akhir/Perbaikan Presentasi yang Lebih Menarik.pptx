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Telegraf" charset="1" panose="00000500000000000000"/>
      <p:regular r:id="rId13"/>
    </p:embeddedFont>
    <p:embeddedFont>
      <p:font typeface="Open Sans" charset="1" panose="00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63750" y="6667500"/>
            <a:ext cx="3810000" cy="3810000"/>
            <a:chOff x="0" y="0"/>
            <a:chExt cx="5080000" cy="5080000"/>
          </a:xfrm>
        </p:grpSpPr>
        <p:sp>
          <p:nvSpPr>
            <p:cNvPr name="Freeform 3" id="3"/>
            <p:cNvSpPr/>
            <p:nvPr/>
          </p:nvSpPr>
          <p:spPr>
            <a:xfrm flipH="false" flipV="false" rot="0">
              <a:off x="0" y="0"/>
              <a:ext cx="5080000" cy="5080000"/>
            </a:xfrm>
            <a:custGeom>
              <a:avLst/>
              <a:gdLst/>
              <a:ahLst/>
              <a:cxnLst/>
              <a:rect r="r" b="b" t="t" l="l"/>
              <a:pathLst>
                <a:path h="5080000" w="5080000">
                  <a:moveTo>
                    <a:pt x="2540000" y="0"/>
                  </a:moveTo>
                  <a:cubicBezTo>
                    <a:pt x="1137197" y="0"/>
                    <a:pt x="0" y="1137197"/>
                    <a:pt x="0" y="2540000"/>
                  </a:cubicBezTo>
                  <a:cubicBezTo>
                    <a:pt x="0" y="3942803"/>
                    <a:pt x="1137197" y="5080000"/>
                    <a:pt x="2540000" y="5080000"/>
                  </a:cubicBezTo>
                  <a:cubicBezTo>
                    <a:pt x="3942803" y="5080000"/>
                    <a:pt x="5080000" y="3942803"/>
                    <a:pt x="5080000" y="2540000"/>
                  </a:cubicBezTo>
                  <a:cubicBezTo>
                    <a:pt x="5080000" y="1137197"/>
                    <a:pt x="3942803" y="0"/>
                    <a:pt x="2540000" y="0"/>
                  </a:cubicBezTo>
                  <a:close/>
                </a:path>
              </a:pathLst>
            </a:custGeom>
            <a:solidFill>
              <a:srgbClr val="E94E1B">
                <a:alpha val="5882"/>
              </a:srgbClr>
            </a:solidFill>
          </p:spPr>
        </p:sp>
        <p:sp>
          <p:nvSpPr>
            <p:cNvPr name="TextBox 4" id="4"/>
            <p:cNvSpPr txBox="true"/>
            <p:nvPr/>
          </p:nvSpPr>
          <p:spPr>
            <a:xfrm>
              <a:off x="0" y="-38100"/>
              <a:ext cx="5080000" cy="5118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476250" y="-476250"/>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1905000" y="0"/>
                  </a:moveTo>
                  <a:cubicBezTo>
                    <a:pt x="852898" y="0"/>
                    <a:pt x="0" y="852898"/>
                    <a:pt x="0" y="1905000"/>
                  </a:cubicBezTo>
                  <a:cubicBezTo>
                    <a:pt x="0" y="2957102"/>
                    <a:pt x="852898" y="3810000"/>
                    <a:pt x="1905000" y="3810000"/>
                  </a:cubicBezTo>
                  <a:cubicBezTo>
                    <a:pt x="2957102" y="3810000"/>
                    <a:pt x="3810000" y="2957102"/>
                    <a:pt x="3810000" y="1905000"/>
                  </a:cubicBezTo>
                  <a:cubicBezTo>
                    <a:pt x="3810000" y="852898"/>
                    <a:pt x="2957102" y="0"/>
                    <a:pt x="1905000" y="0"/>
                  </a:cubicBezTo>
                  <a:close/>
                </a:path>
              </a:pathLst>
            </a:custGeom>
            <a:solidFill>
              <a:srgbClr val="0066B3">
                <a:alpha val="7843"/>
              </a:srgbClr>
            </a:solidFill>
          </p:spPr>
        </p:sp>
        <p:sp>
          <p:nvSpPr>
            <p:cNvPr name="TextBox 7" id="7"/>
            <p:cNvSpPr txBox="true"/>
            <p:nvPr/>
          </p:nvSpPr>
          <p:spPr>
            <a:xfrm>
              <a:off x="0" y="-38100"/>
              <a:ext cx="3810000" cy="3848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8572500" y="3048000"/>
            <a:ext cx="1143000" cy="38100"/>
            <a:chOff x="0" y="0"/>
            <a:chExt cx="1524000" cy="50800"/>
          </a:xfrm>
        </p:grpSpPr>
        <p:sp>
          <p:nvSpPr>
            <p:cNvPr name="Freeform 9" id="9"/>
            <p:cNvSpPr/>
            <p:nvPr/>
          </p:nvSpPr>
          <p:spPr>
            <a:xfrm flipH="false" flipV="false" rot="0">
              <a:off x="0" y="0"/>
              <a:ext cx="1524000" cy="50800"/>
            </a:xfrm>
            <a:custGeom>
              <a:avLst/>
              <a:gdLst/>
              <a:ahLst/>
              <a:cxnLst/>
              <a:rect r="r" b="b" t="t" l="l"/>
              <a:pathLst>
                <a:path h="50800" w="1524000">
                  <a:moveTo>
                    <a:pt x="0" y="0"/>
                  </a:moveTo>
                  <a:lnTo>
                    <a:pt x="1524000" y="0"/>
                  </a:lnTo>
                  <a:lnTo>
                    <a:pt x="1524000" y="50800"/>
                  </a:lnTo>
                  <a:lnTo>
                    <a:pt x="0" y="50800"/>
                  </a:lnTo>
                  <a:close/>
                </a:path>
              </a:pathLst>
            </a:custGeom>
            <a:solidFill>
              <a:srgbClr val="0066B3"/>
            </a:solidFill>
          </p:spPr>
        </p:sp>
        <p:sp>
          <p:nvSpPr>
            <p:cNvPr name="TextBox 10" id="10"/>
            <p:cNvSpPr txBox="true"/>
            <p:nvPr/>
          </p:nvSpPr>
          <p:spPr>
            <a:xfrm>
              <a:off x="0" y="-38100"/>
              <a:ext cx="1524000" cy="889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2476500" y="3276600"/>
            <a:ext cx="13335000" cy="1638300"/>
          </a:xfrm>
          <a:prstGeom prst="rect">
            <a:avLst/>
          </a:prstGeom>
        </p:spPr>
        <p:txBody>
          <a:bodyPr anchor="t" rtlCol="false" tIns="0" lIns="0" bIns="0" rIns="0">
            <a:spAutoFit/>
          </a:bodyPr>
          <a:lstStyle/>
          <a:p>
            <a:pPr algn="ctr" marL="0" indent="0" lvl="0">
              <a:lnSpc>
                <a:spcPts val="6239"/>
              </a:lnSpc>
              <a:spcBef>
                <a:spcPct val="0"/>
              </a:spcBef>
            </a:pPr>
            <a:r>
              <a:rPr lang="en-US" sz="5199" strike="noStrike" u="none">
                <a:solidFill>
                  <a:srgbClr val="1A2A3A"/>
                </a:solidFill>
                <a:latin typeface="Telegraf"/>
                <a:ea typeface="Telegraf"/>
                <a:cs typeface="Telegraf"/>
                <a:sym typeface="Telegraf"/>
              </a:rPr>
              <a:t>Rancang Bangun Sistem Formula Parfum Terdistribusi</a:t>
            </a:r>
          </a:p>
        </p:txBody>
      </p:sp>
      <p:sp>
        <p:nvSpPr>
          <p:cNvPr name="TextBox 12" id="12"/>
          <p:cNvSpPr txBox="true"/>
          <p:nvPr/>
        </p:nvSpPr>
        <p:spPr>
          <a:xfrm rot="0">
            <a:off x="5334000" y="5848350"/>
            <a:ext cx="7620000" cy="1051560"/>
          </a:xfrm>
          <a:prstGeom prst="rect">
            <a:avLst/>
          </a:prstGeom>
        </p:spPr>
        <p:txBody>
          <a:bodyPr anchor="t" rtlCol="false" tIns="0" lIns="0" bIns="0" rIns="0">
            <a:spAutoFit/>
          </a:bodyPr>
          <a:lstStyle/>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Andita Aditia</a:t>
            </a:r>
          </a:p>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NIM 20230801318</a:t>
            </a:r>
          </a:p>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Teknik Informatika - Universitas Esa Unggul</a:t>
            </a:r>
          </a:p>
        </p:txBody>
      </p:sp>
      <p:sp>
        <p:nvSpPr>
          <p:cNvPr name="Freeform 13" id="13"/>
          <p:cNvSpPr/>
          <p:nvPr/>
        </p:nvSpPr>
        <p:spPr>
          <a:xfrm flipH="false" flipV="false" rot="0">
            <a:off x="8286750" y="1143000"/>
            <a:ext cx="1714500" cy="2014763"/>
          </a:xfrm>
          <a:custGeom>
            <a:avLst/>
            <a:gdLst/>
            <a:ahLst/>
            <a:cxnLst/>
            <a:rect r="r" b="b" t="t" l="l"/>
            <a:pathLst>
              <a:path h="2014763" w="1714500">
                <a:moveTo>
                  <a:pt x="0" y="0"/>
                </a:moveTo>
                <a:lnTo>
                  <a:pt x="1714500" y="0"/>
                </a:lnTo>
                <a:lnTo>
                  <a:pt x="1714500" y="2014763"/>
                </a:lnTo>
                <a:lnTo>
                  <a:pt x="0" y="2014763"/>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52500" y="628650"/>
            <a:ext cx="7620000" cy="769620"/>
          </a:xfrm>
          <a:prstGeom prst="rect">
            <a:avLst/>
          </a:prstGeom>
        </p:spPr>
        <p:txBody>
          <a:bodyPr anchor="t" rtlCol="false" tIns="0" lIns="0" bIns="0" rIns="0">
            <a:spAutoFit/>
          </a:bodyPr>
          <a:lstStyle/>
          <a:p>
            <a:pPr algn="l" marL="0" indent="0" lvl="0">
              <a:lnSpc>
                <a:spcPts val="5880"/>
              </a:lnSpc>
              <a:spcBef>
                <a:spcPct val="0"/>
              </a:spcBef>
            </a:pPr>
            <a:r>
              <a:rPr lang="en-US" sz="4200" strike="noStrike" u="none">
                <a:solidFill>
                  <a:srgbClr val="1A2A3A"/>
                </a:solidFill>
                <a:latin typeface="Telegraf"/>
                <a:ea typeface="Telegraf"/>
                <a:cs typeface="Telegraf"/>
                <a:sym typeface="Telegraf"/>
              </a:rPr>
              <a:t>Latar Belakang</a:t>
            </a:r>
          </a:p>
        </p:txBody>
      </p:sp>
      <p:grpSp>
        <p:nvGrpSpPr>
          <p:cNvPr name="Group 3" id="3"/>
          <p:cNvGrpSpPr/>
          <p:nvPr/>
        </p:nvGrpSpPr>
        <p:grpSpPr>
          <a:xfrm rot="0">
            <a:off x="952500" y="1333500"/>
            <a:ext cx="762000" cy="38100"/>
            <a:chOff x="0" y="0"/>
            <a:chExt cx="1016000" cy="50800"/>
          </a:xfrm>
        </p:grpSpPr>
        <p:sp>
          <p:nvSpPr>
            <p:cNvPr name="Freeform 4" id="4"/>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5" id="5"/>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952500" y="1657350"/>
            <a:ext cx="8096250" cy="2861310"/>
          </a:xfrm>
          <a:prstGeom prst="rect">
            <a:avLst/>
          </a:prstGeom>
        </p:spPr>
        <p:txBody>
          <a:bodyPr anchor="t" rtlCol="false" tIns="0" lIns="0" bIns="0" rIns="0">
            <a:spAutoFit/>
          </a:bodyPr>
          <a:lstStyle/>
          <a:p>
            <a:pPr algn="l" marL="0" indent="0" lvl="0">
              <a:lnSpc>
                <a:spcPts val="2880"/>
              </a:lnSpc>
              <a:spcBef>
                <a:spcPct val="0"/>
              </a:spcBef>
            </a:pPr>
            <a:r>
              <a:rPr lang="en-US" sz="1800" strike="noStrike" u="none">
                <a:solidFill>
                  <a:srgbClr val="4A5A6A"/>
                </a:solidFill>
                <a:latin typeface="Open Sans"/>
                <a:ea typeface="Open Sans"/>
                <a:cs typeface="Open Sans"/>
                <a:sym typeface="Open Sans"/>
              </a:rPr>
              <a:t>Industri parfum membutuhkan sistem yang aman dan andal untuk mengelola formula rahasia. Sistem monolitik tradisional memiliki kelemahan utama berupa Single Point of Failure (SPOF), di mana kegagalan satu komponen dapat melumpuhkan seluruh sistem.</a:t>
            </a:r>
          </a:p>
          <a:p>
            <a:pPr algn="l" marL="0" indent="0" lvl="0">
              <a:lnSpc>
                <a:spcPts val="2880"/>
              </a:lnSpc>
              <a:spcBef>
                <a:spcPct val="0"/>
              </a:spcBef>
            </a:pPr>
          </a:p>
          <a:p>
            <a:pPr algn="l" marL="0" indent="0" lvl="0">
              <a:lnSpc>
                <a:spcPts val="2880"/>
              </a:lnSpc>
              <a:spcBef>
                <a:spcPct val="0"/>
              </a:spcBef>
            </a:pPr>
            <a:r>
              <a:rPr lang="en-US" sz="1800" strike="noStrike" u="none">
                <a:solidFill>
                  <a:srgbClr val="4A5A6A"/>
                </a:solidFill>
                <a:latin typeface="Open Sans"/>
                <a:ea typeface="Open Sans"/>
                <a:cs typeface="Open Sans"/>
                <a:sym typeface="Open Sans"/>
              </a:rPr>
              <a:t>Tujuan penelitian ini adalah merancang sistem terdistribusi berbasis arsitektur Primary-Replica yang menjamin ketersediaan tinggi (high availability) dan akses real-time terhadap data formula parfum.</a:t>
            </a:r>
          </a:p>
        </p:txBody>
      </p:sp>
      <p:sp>
        <p:nvSpPr>
          <p:cNvPr name="Freeform 7" id="7"/>
          <p:cNvSpPr/>
          <p:nvPr/>
        </p:nvSpPr>
        <p:spPr>
          <a:xfrm flipH="false" flipV="false" rot="0">
            <a:off x="10477500" y="1905000"/>
            <a:ext cx="6667500" cy="4762500"/>
          </a:xfrm>
          <a:custGeom>
            <a:avLst/>
            <a:gdLst/>
            <a:ahLst/>
            <a:cxnLst/>
            <a:rect r="r" b="b" t="t" l="l"/>
            <a:pathLst>
              <a:path h="4762500" w="6667500">
                <a:moveTo>
                  <a:pt x="0" y="0"/>
                </a:moveTo>
                <a:lnTo>
                  <a:pt x="6667500" y="0"/>
                </a:lnTo>
                <a:lnTo>
                  <a:pt x="6667500" y="4762500"/>
                </a:lnTo>
                <a:lnTo>
                  <a:pt x="0" y="476250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52500" y="628650"/>
            <a:ext cx="7620000" cy="769620"/>
          </a:xfrm>
          <a:prstGeom prst="rect">
            <a:avLst/>
          </a:prstGeom>
        </p:spPr>
        <p:txBody>
          <a:bodyPr anchor="t" rtlCol="false" tIns="0" lIns="0" bIns="0" rIns="0">
            <a:spAutoFit/>
          </a:bodyPr>
          <a:lstStyle/>
          <a:p>
            <a:pPr algn="l">
              <a:lnSpc>
                <a:spcPts val="5880"/>
              </a:lnSpc>
            </a:pPr>
            <a:r>
              <a:rPr lang="en-US" sz="4200">
                <a:solidFill>
                  <a:srgbClr val="1A2A3A"/>
                </a:solidFill>
                <a:latin typeface="Telegraf"/>
                <a:ea typeface="Telegraf"/>
                <a:cs typeface="Telegraf"/>
                <a:sym typeface="Telegraf"/>
              </a:rPr>
              <a:t>Arsitektur Sistem</a:t>
            </a:r>
          </a:p>
        </p:txBody>
      </p:sp>
      <p:grpSp>
        <p:nvGrpSpPr>
          <p:cNvPr name="Group 3" id="3"/>
          <p:cNvGrpSpPr/>
          <p:nvPr/>
        </p:nvGrpSpPr>
        <p:grpSpPr>
          <a:xfrm rot="0">
            <a:off x="952500" y="1333500"/>
            <a:ext cx="762000" cy="38100"/>
            <a:chOff x="0" y="0"/>
            <a:chExt cx="1016000" cy="50800"/>
          </a:xfrm>
        </p:grpSpPr>
        <p:sp>
          <p:nvSpPr>
            <p:cNvPr name="Freeform 4" id="4"/>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5" id="5"/>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333500" y="1905000"/>
            <a:ext cx="4953000" cy="1905000"/>
            <a:chOff x="0" y="0"/>
            <a:chExt cx="6604000" cy="2540000"/>
          </a:xfrm>
        </p:grpSpPr>
        <p:sp>
          <p:nvSpPr>
            <p:cNvPr name="Freeform 7" id="7"/>
            <p:cNvSpPr/>
            <p:nvPr/>
          </p:nvSpPr>
          <p:spPr>
            <a:xfrm flipH="false" flipV="false" rot="0">
              <a:off x="0" y="0"/>
              <a:ext cx="6604000" cy="2540000"/>
            </a:xfrm>
            <a:custGeom>
              <a:avLst/>
              <a:gdLst/>
              <a:ahLst/>
              <a:cxnLst/>
              <a:rect r="r" b="b" t="t" l="l"/>
              <a:pathLst>
                <a:path h="2540000" w="6604000">
                  <a:moveTo>
                    <a:pt x="254000" y="0"/>
                  </a:moveTo>
                  <a:lnTo>
                    <a:pt x="6350000" y="0"/>
                  </a:lnTo>
                  <a:cubicBezTo>
                    <a:pt x="6490280" y="0"/>
                    <a:pt x="6604000" y="113720"/>
                    <a:pt x="6604000" y="254000"/>
                  </a:cubicBezTo>
                  <a:lnTo>
                    <a:pt x="6604000" y="2286000"/>
                  </a:lnTo>
                  <a:cubicBezTo>
                    <a:pt x="6604000" y="2426280"/>
                    <a:pt x="6490280" y="2540000"/>
                    <a:pt x="6350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F0F4F8"/>
            </a:solidFill>
            <a:ln w="9525" cap="sq">
              <a:solidFill>
                <a:srgbClr val="D0DCE8"/>
              </a:solidFill>
              <a:prstDash val="solid"/>
              <a:miter/>
            </a:ln>
          </p:spPr>
        </p:sp>
        <p:sp>
          <p:nvSpPr>
            <p:cNvPr name="TextBox 8" id="8"/>
            <p:cNvSpPr txBox="true"/>
            <p:nvPr/>
          </p:nvSpPr>
          <p:spPr>
            <a:xfrm>
              <a:off x="0" y="-38100"/>
              <a:ext cx="6604000" cy="2578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619250" y="2085975"/>
            <a:ext cx="476250" cy="537845"/>
          </a:xfrm>
          <a:prstGeom prst="rect">
            <a:avLst/>
          </a:prstGeom>
        </p:spPr>
        <p:txBody>
          <a:bodyPr anchor="t" rtlCol="false" tIns="0" lIns="0" bIns="0" rIns="0">
            <a:spAutoFit/>
          </a:bodyPr>
          <a:lstStyle/>
          <a:p>
            <a:pPr algn="l">
              <a:lnSpc>
                <a:spcPts val="4480"/>
              </a:lnSpc>
            </a:pPr>
            <a:r>
              <a:rPr lang="en-US" sz="3200">
                <a:solidFill>
                  <a:srgbClr val="1A2A3A"/>
                </a:solidFill>
                <a:latin typeface="Open Sans"/>
                <a:ea typeface="Open Sans"/>
                <a:cs typeface="Open Sans"/>
                <a:sym typeface="Open Sans"/>
              </a:rPr>
              <a:t>👤</a:t>
            </a:r>
          </a:p>
        </p:txBody>
      </p:sp>
      <p:sp>
        <p:nvSpPr>
          <p:cNvPr name="TextBox 10" id="10"/>
          <p:cNvSpPr txBox="true"/>
          <p:nvPr/>
        </p:nvSpPr>
        <p:spPr>
          <a:xfrm rot="0">
            <a:off x="1619250" y="2543175"/>
            <a:ext cx="4381500" cy="377825"/>
          </a:xfrm>
          <a:prstGeom prst="rect">
            <a:avLst/>
          </a:prstGeom>
        </p:spPr>
        <p:txBody>
          <a:bodyPr anchor="t" rtlCol="false" tIns="0" lIns="0" bIns="0" rIns="0">
            <a:spAutoFit/>
          </a:bodyPr>
          <a:lstStyle/>
          <a:p>
            <a:pPr algn="l">
              <a:lnSpc>
                <a:spcPts val="2800"/>
              </a:lnSpc>
            </a:pPr>
            <a:r>
              <a:rPr lang="en-US" sz="2000">
                <a:solidFill>
                  <a:srgbClr val="0066B3"/>
                </a:solidFill>
                <a:latin typeface="Telegraf"/>
                <a:ea typeface="Telegraf"/>
                <a:cs typeface="Telegraf"/>
                <a:sym typeface="Telegraf"/>
              </a:rPr>
              <a:t>Klien (User)</a:t>
            </a:r>
          </a:p>
        </p:txBody>
      </p:sp>
      <p:sp>
        <p:nvSpPr>
          <p:cNvPr name="TextBox 11" id="11"/>
          <p:cNvSpPr txBox="true"/>
          <p:nvPr/>
        </p:nvSpPr>
        <p:spPr>
          <a:xfrm rot="0">
            <a:off x="1619250" y="2962275"/>
            <a:ext cx="4381500" cy="552450"/>
          </a:xfrm>
          <a:prstGeom prst="rect">
            <a:avLst/>
          </a:prstGeom>
        </p:spPr>
        <p:txBody>
          <a:bodyPr anchor="t" rtlCol="false" tIns="0" lIns="0" bIns="0" rIns="0">
            <a:spAutoFit/>
          </a:bodyPr>
          <a:lstStyle/>
          <a:p>
            <a:pPr algn="l">
              <a:lnSpc>
                <a:spcPts val="2250"/>
              </a:lnSpc>
            </a:pPr>
            <a:r>
              <a:rPr lang="en-US" sz="1500">
                <a:solidFill>
                  <a:srgbClr val="4A5A6A"/>
                </a:solidFill>
                <a:latin typeface="Open Sans"/>
                <a:ea typeface="Open Sans"/>
                <a:cs typeface="Open Sans"/>
                <a:sym typeface="Open Sans"/>
              </a:rPr>
              <a:t>Mengakses antarmuka aplikasi untuk input atau baca formula parfum.</a:t>
            </a:r>
          </a:p>
        </p:txBody>
      </p:sp>
      <p:grpSp>
        <p:nvGrpSpPr>
          <p:cNvPr name="Group 12" id="12"/>
          <p:cNvGrpSpPr/>
          <p:nvPr/>
        </p:nvGrpSpPr>
        <p:grpSpPr>
          <a:xfrm rot="0">
            <a:off x="6667500" y="1905000"/>
            <a:ext cx="4953000" cy="1905000"/>
            <a:chOff x="0" y="0"/>
            <a:chExt cx="6604000" cy="2540000"/>
          </a:xfrm>
        </p:grpSpPr>
        <p:sp>
          <p:nvSpPr>
            <p:cNvPr name="Freeform 13" id="13"/>
            <p:cNvSpPr/>
            <p:nvPr/>
          </p:nvSpPr>
          <p:spPr>
            <a:xfrm flipH="false" flipV="false" rot="0">
              <a:off x="0" y="0"/>
              <a:ext cx="6604000" cy="2540000"/>
            </a:xfrm>
            <a:custGeom>
              <a:avLst/>
              <a:gdLst/>
              <a:ahLst/>
              <a:cxnLst/>
              <a:rect r="r" b="b" t="t" l="l"/>
              <a:pathLst>
                <a:path h="2540000" w="6604000">
                  <a:moveTo>
                    <a:pt x="254000" y="0"/>
                  </a:moveTo>
                  <a:lnTo>
                    <a:pt x="6350000" y="0"/>
                  </a:lnTo>
                  <a:cubicBezTo>
                    <a:pt x="6490280" y="0"/>
                    <a:pt x="6604000" y="113720"/>
                    <a:pt x="6604000" y="254000"/>
                  </a:cubicBezTo>
                  <a:lnTo>
                    <a:pt x="6604000" y="2286000"/>
                  </a:lnTo>
                  <a:cubicBezTo>
                    <a:pt x="6604000" y="2426280"/>
                    <a:pt x="6490280" y="2540000"/>
                    <a:pt x="6350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F0F4F8"/>
            </a:solidFill>
            <a:ln w="9525" cap="sq">
              <a:solidFill>
                <a:srgbClr val="D0DCE8"/>
              </a:solidFill>
              <a:prstDash val="solid"/>
              <a:miter/>
            </a:ln>
          </p:spPr>
        </p:sp>
        <p:sp>
          <p:nvSpPr>
            <p:cNvPr name="TextBox 14" id="14"/>
            <p:cNvSpPr txBox="true"/>
            <p:nvPr/>
          </p:nvSpPr>
          <p:spPr>
            <a:xfrm>
              <a:off x="0" y="-38100"/>
              <a:ext cx="6604000" cy="2578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953250" y="2085975"/>
            <a:ext cx="476250" cy="537845"/>
          </a:xfrm>
          <a:prstGeom prst="rect">
            <a:avLst/>
          </a:prstGeom>
        </p:spPr>
        <p:txBody>
          <a:bodyPr anchor="t" rtlCol="false" tIns="0" lIns="0" bIns="0" rIns="0">
            <a:spAutoFit/>
          </a:bodyPr>
          <a:lstStyle/>
          <a:p>
            <a:pPr algn="l">
              <a:lnSpc>
                <a:spcPts val="4480"/>
              </a:lnSpc>
            </a:pPr>
            <a:r>
              <a:rPr lang="en-US" sz="3200">
                <a:solidFill>
                  <a:srgbClr val="1A2A3A"/>
                </a:solidFill>
                <a:latin typeface="Open Sans"/>
                <a:ea typeface="Open Sans"/>
                <a:cs typeface="Open Sans"/>
                <a:sym typeface="Open Sans"/>
              </a:rPr>
              <a:t>🖥️</a:t>
            </a:r>
          </a:p>
        </p:txBody>
      </p:sp>
      <p:sp>
        <p:nvSpPr>
          <p:cNvPr name="TextBox 16" id="16"/>
          <p:cNvSpPr txBox="true"/>
          <p:nvPr/>
        </p:nvSpPr>
        <p:spPr>
          <a:xfrm rot="0">
            <a:off x="6953250" y="2543175"/>
            <a:ext cx="4381500" cy="377825"/>
          </a:xfrm>
          <a:prstGeom prst="rect">
            <a:avLst/>
          </a:prstGeom>
        </p:spPr>
        <p:txBody>
          <a:bodyPr anchor="t" rtlCol="false" tIns="0" lIns="0" bIns="0" rIns="0">
            <a:spAutoFit/>
          </a:bodyPr>
          <a:lstStyle/>
          <a:p>
            <a:pPr algn="l">
              <a:lnSpc>
                <a:spcPts val="2800"/>
              </a:lnSpc>
            </a:pPr>
            <a:r>
              <a:rPr lang="en-US" sz="2000">
                <a:solidFill>
                  <a:srgbClr val="0066B3"/>
                </a:solidFill>
                <a:latin typeface="Telegraf"/>
                <a:ea typeface="Telegraf"/>
                <a:cs typeface="Telegraf"/>
                <a:sym typeface="Telegraf"/>
              </a:rPr>
              <a:t>Node Primary</a:t>
            </a:r>
          </a:p>
        </p:txBody>
      </p:sp>
      <p:sp>
        <p:nvSpPr>
          <p:cNvPr name="TextBox 17" id="17"/>
          <p:cNvSpPr txBox="true"/>
          <p:nvPr/>
        </p:nvSpPr>
        <p:spPr>
          <a:xfrm rot="0">
            <a:off x="6953250" y="2962275"/>
            <a:ext cx="4381500" cy="552450"/>
          </a:xfrm>
          <a:prstGeom prst="rect">
            <a:avLst/>
          </a:prstGeom>
        </p:spPr>
        <p:txBody>
          <a:bodyPr anchor="t" rtlCol="false" tIns="0" lIns="0" bIns="0" rIns="0">
            <a:spAutoFit/>
          </a:bodyPr>
          <a:lstStyle/>
          <a:p>
            <a:pPr algn="l">
              <a:lnSpc>
                <a:spcPts val="2250"/>
              </a:lnSpc>
            </a:pPr>
            <a:r>
              <a:rPr lang="en-US" sz="1500">
                <a:solidFill>
                  <a:srgbClr val="4A5A6A"/>
                </a:solidFill>
                <a:latin typeface="Open Sans"/>
                <a:ea typeface="Open Sans"/>
                <a:cs typeface="Open Sans"/>
                <a:sym typeface="Open Sans"/>
              </a:rPr>
              <a:t>Menerima permintaan tulis (Write) dan memproses basis data utama.</a:t>
            </a:r>
          </a:p>
        </p:txBody>
      </p:sp>
      <p:grpSp>
        <p:nvGrpSpPr>
          <p:cNvPr name="Group 18" id="18"/>
          <p:cNvGrpSpPr/>
          <p:nvPr/>
        </p:nvGrpSpPr>
        <p:grpSpPr>
          <a:xfrm rot="0">
            <a:off x="12001500" y="1905000"/>
            <a:ext cx="4953000" cy="1905000"/>
            <a:chOff x="0" y="0"/>
            <a:chExt cx="6604000" cy="2540000"/>
          </a:xfrm>
        </p:grpSpPr>
        <p:sp>
          <p:nvSpPr>
            <p:cNvPr name="Freeform 19" id="19"/>
            <p:cNvSpPr/>
            <p:nvPr/>
          </p:nvSpPr>
          <p:spPr>
            <a:xfrm flipH="false" flipV="false" rot="0">
              <a:off x="0" y="0"/>
              <a:ext cx="6604000" cy="2540000"/>
            </a:xfrm>
            <a:custGeom>
              <a:avLst/>
              <a:gdLst/>
              <a:ahLst/>
              <a:cxnLst/>
              <a:rect r="r" b="b" t="t" l="l"/>
              <a:pathLst>
                <a:path h="2540000" w="6604000">
                  <a:moveTo>
                    <a:pt x="254000" y="0"/>
                  </a:moveTo>
                  <a:lnTo>
                    <a:pt x="6350000" y="0"/>
                  </a:lnTo>
                  <a:cubicBezTo>
                    <a:pt x="6490280" y="0"/>
                    <a:pt x="6604000" y="113720"/>
                    <a:pt x="6604000" y="254000"/>
                  </a:cubicBezTo>
                  <a:lnTo>
                    <a:pt x="6604000" y="2286000"/>
                  </a:lnTo>
                  <a:cubicBezTo>
                    <a:pt x="6604000" y="2426280"/>
                    <a:pt x="6490280" y="2540000"/>
                    <a:pt x="6350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F0F4F8"/>
            </a:solidFill>
            <a:ln w="9525" cap="sq">
              <a:solidFill>
                <a:srgbClr val="D0DCE8"/>
              </a:solidFill>
              <a:prstDash val="solid"/>
              <a:miter/>
            </a:ln>
          </p:spPr>
        </p:sp>
        <p:sp>
          <p:nvSpPr>
            <p:cNvPr name="TextBox 20" id="20"/>
            <p:cNvSpPr txBox="true"/>
            <p:nvPr/>
          </p:nvSpPr>
          <p:spPr>
            <a:xfrm>
              <a:off x="0" y="-38100"/>
              <a:ext cx="6604000" cy="2578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2287250" y="2085975"/>
            <a:ext cx="476250" cy="537845"/>
          </a:xfrm>
          <a:prstGeom prst="rect">
            <a:avLst/>
          </a:prstGeom>
        </p:spPr>
        <p:txBody>
          <a:bodyPr anchor="t" rtlCol="false" tIns="0" lIns="0" bIns="0" rIns="0">
            <a:spAutoFit/>
          </a:bodyPr>
          <a:lstStyle/>
          <a:p>
            <a:pPr algn="l">
              <a:lnSpc>
                <a:spcPts val="4480"/>
              </a:lnSpc>
            </a:pPr>
            <a:r>
              <a:rPr lang="en-US" sz="3200">
                <a:solidFill>
                  <a:srgbClr val="1A2A3A"/>
                </a:solidFill>
                <a:latin typeface="Open Sans"/>
                <a:ea typeface="Open Sans"/>
                <a:cs typeface="Open Sans"/>
                <a:sym typeface="Open Sans"/>
              </a:rPr>
              <a:t>📋</a:t>
            </a:r>
          </a:p>
        </p:txBody>
      </p:sp>
      <p:sp>
        <p:nvSpPr>
          <p:cNvPr name="TextBox 22" id="22"/>
          <p:cNvSpPr txBox="true"/>
          <p:nvPr/>
        </p:nvSpPr>
        <p:spPr>
          <a:xfrm rot="0">
            <a:off x="12287250" y="2543175"/>
            <a:ext cx="4381500" cy="377825"/>
          </a:xfrm>
          <a:prstGeom prst="rect">
            <a:avLst/>
          </a:prstGeom>
        </p:spPr>
        <p:txBody>
          <a:bodyPr anchor="t" rtlCol="false" tIns="0" lIns="0" bIns="0" rIns="0">
            <a:spAutoFit/>
          </a:bodyPr>
          <a:lstStyle/>
          <a:p>
            <a:pPr algn="l">
              <a:lnSpc>
                <a:spcPts val="2800"/>
              </a:lnSpc>
            </a:pPr>
            <a:r>
              <a:rPr lang="en-US" sz="2000">
                <a:solidFill>
                  <a:srgbClr val="0066B3"/>
                </a:solidFill>
                <a:latin typeface="Telegraf"/>
                <a:ea typeface="Telegraf"/>
                <a:cs typeface="Telegraf"/>
                <a:sym typeface="Telegraf"/>
              </a:rPr>
              <a:t>Node Replica</a:t>
            </a:r>
          </a:p>
        </p:txBody>
      </p:sp>
      <p:sp>
        <p:nvSpPr>
          <p:cNvPr name="TextBox 23" id="23"/>
          <p:cNvSpPr txBox="true"/>
          <p:nvPr/>
        </p:nvSpPr>
        <p:spPr>
          <a:xfrm rot="0">
            <a:off x="12287250" y="2962275"/>
            <a:ext cx="4381500" cy="552450"/>
          </a:xfrm>
          <a:prstGeom prst="rect">
            <a:avLst/>
          </a:prstGeom>
        </p:spPr>
        <p:txBody>
          <a:bodyPr anchor="t" rtlCol="false" tIns="0" lIns="0" bIns="0" rIns="0">
            <a:spAutoFit/>
          </a:bodyPr>
          <a:lstStyle/>
          <a:p>
            <a:pPr algn="l">
              <a:lnSpc>
                <a:spcPts val="2250"/>
              </a:lnSpc>
            </a:pPr>
            <a:r>
              <a:rPr lang="en-US" sz="1500">
                <a:solidFill>
                  <a:srgbClr val="4A5A6A"/>
                </a:solidFill>
                <a:latin typeface="Open Sans"/>
                <a:ea typeface="Open Sans"/>
                <a:cs typeface="Open Sans"/>
                <a:sym typeface="Open Sans"/>
              </a:rPr>
              <a:t>Menyalin data dari Primary. Berfungsi sebagai cadangan aktif (Failover).</a:t>
            </a:r>
          </a:p>
        </p:txBody>
      </p:sp>
      <p:grpSp>
        <p:nvGrpSpPr>
          <p:cNvPr name="Group 24" id="24"/>
          <p:cNvGrpSpPr/>
          <p:nvPr/>
        </p:nvGrpSpPr>
        <p:grpSpPr>
          <a:xfrm rot="0">
            <a:off x="4000500" y="4191000"/>
            <a:ext cx="4953000" cy="1905000"/>
            <a:chOff x="0" y="0"/>
            <a:chExt cx="6604000" cy="2540000"/>
          </a:xfrm>
        </p:grpSpPr>
        <p:sp>
          <p:nvSpPr>
            <p:cNvPr name="Freeform 25" id="25"/>
            <p:cNvSpPr/>
            <p:nvPr/>
          </p:nvSpPr>
          <p:spPr>
            <a:xfrm flipH="false" flipV="false" rot="0">
              <a:off x="0" y="0"/>
              <a:ext cx="6604000" cy="2540000"/>
            </a:xfrm>
            <a:custGeom>
              <a:avLst/>
              <a:gdLst/>
              <a:ahLst/>
              <a:cxnLst/>
              <a:rect r="r" b="b" t="t" l="l"/>
              <a:pathLst>
                <a:path h="2540000" w="6604000">
                  <a:moveTo>
                    <a:pt x="254000" y="0"/>
                  </a:moveTo>
                  <a:lnTo>
                    <a:pt x="6350000" y="0"/>
                  </a:lnTo>
                  <a:cubicBezTo>
                    <a:pt x="6490280" y="0"/>
                    <a:pt x="6604000" y="113720"/>
                    <a:pt x="6604000" y="254000"/>
                  </a:cubicBezTo>
                  <a:lnTo>
                    <a:pt x="6604000" y="2286000"/>
                  </a:lnTo>
                  <a:cubicBezTo>
                    <a:pt x="6604000" y="2426280"/>
                    <a:pt x="6490280" y="2540000"/>
                    <a:pt x="6350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F0F4F8"/>
            </a:solidFill>
            <a:ln w="9525" cap="sq">
              <a:solidFill>
                <a:srgbClr val="D0DCE8"/>
              </a:solidFill>
              <a:prstDash val="solid"/>
              <a:miter/>
            </a:ln>
          </p:spPr>
        </p:sp>
        <p:sp>
          <p:nvSpPr>
            <p:cNvPr name="TextBox 26" id="26"/>
            <p:cNvSpPr txBox="true"/>
            <p:nvPr/>
          </p:nvSpPr>
          <p:spPr>
            <a:xfrm>
              <a:off x="0" y="-38100"/>
              <a:ext cx="6604000" cy="25781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4286250" y="4371975"/>
            <a:ext cx="476250" cy="537845"/>
          </a:xfrm>
          <a:prstGeom prst="rect">
            <a:avLst/>
          </a:prstGeom>
        </p:spPr>
        <p:txBody>
          <a:bodyPr anchor="t" rtlCol="false" tIns="0" lIns="0" bIns="0" rIns="0">
            <a:spAutoFit/>
          </a:bodyPr>
          <a:lstStyle/>
          <a:p>
            <a:pPr algn="l">
              <a:lnSpc>
                <a:spcPts val="4480"/>
              </a:lnSpc>
            </a:pPr>
            <a:r>
              <a:rPr lang="en-US" sz="3200">
                <a:solidFill>
                  <a:srgbClr val="1A2A3A"/>
                </a:solidFill>
                <a:latin typeface="Open Sans"/>
                <a:ea typeface="Open Sans"/>
                <a:cs typeface="Open Sans"/>
                <a:sym typeface="Open Sans"/>
              </a:rPr>
              <a:t>🔥</a:t>
            </a:r>
          </a:p>
        </p:txBody>
      </p:sp>
      <p:sp>
        <p:nvSpPr>
          <p:cNvPr name="TextBox 28" id="28"/>
          <p:cNvSpPr txBox="true"/>
          <p:nvPr/>
        </p:nvSpPr>
        <p:spPr>
          <a:xfrm rot="0">
            <a:off x="4286250" y="4829175"/>
            <a:ext cx="4381500" cy="377825"/>
          </a:xfrm>
          <a:prstGeom prst="rect">
            <a:avLst/>
          </a:prstGeom>
        </p:spPr>
        <p:txBody>
          <a:bodyPr anchor="t" rtlCol="false" tIns="0" lIns="0" bIns="0" rIns="0">
            <a:spAutoFit/>
          </a:bodyPr>
          <a:lstStyle/>
          <a:p>
            <a:pPr algn="l">
              <a:lnSpc>
                <a:spcPts val="2800"/>
              </a:lnSpc>
            </a:pPr>
            <a:r>
              <a:rPr lang="en-US" sz="2000">
                <a:solidFill>
                  <a:srgbClr val="0066B3"/>
                </a:solidFill>
                <a:latin typeface="Telegraf"/>
                <a:ea typeface="Telegraf"/>
                <a:cs typeface="Telegraf"/>
                <a:sym typeface="Telegraf"/>
              </a:rPr>
              <a:t>Firebase (Sync)</a:t>
            </a:r>
          </a:p>
        </p:txBody>
      </p:sp>
      <p:sp>
        <p:nvSpPr>
          <p:cNvPr name="TextBox 29" id="29"/>
          <p:cNvSpPr txBox="true"/>
          <p:nvPr/>
        </p:nvSpPr>
        <p:spPr>
          <a:xfrm rot="0">
            <a:off x="4286250" y="5248275"/>
            <a:ext cx="4381500" cy="552450"/>
          </a:xfrm>
          <a:prstGeom prst="rect">
            <a:avLst/>
          </a:prstGeom>
        </p:spPr>
        <p:txBody>
          <a:bodyPr anchor="t" rtlCol="false" tIns="0" lIns="0" bIns="0" rIns="0">
            <a:spAutoFit/>
          </a:bodyPr>
          <a:lstStyle/>
          <a:p>
            <a:pPr algn="l">
              <a:lnSpc>
                <a:spcPts val="2250"/>
              </a:lnSpc>
            </a:pPr>
            <a:r>
              <a:rPr lang="en-US" sz="1500">
                <a:solidFill>
                  <a:srgbClr val="4A5A6A"/>
                </a:solidFill>
                <a:latin typeface="Open Sans"/>
                <a:ea typeface="Open Sans"/>
                <a:cs typeface="Open Sans"/>
                <a:sym typeface="Open Sans"/>
              </a:rPr>
              <a:t>Bertindak sebagai perantara sinkronisasi data secara real-time antar node.</a:t>
            </a:r>
          </a:p>
        </p:txBody>
      </p:sp>
      <p:grpSp>
        <p:nvGrpSpPr>
          <p:cNvPr name="Group 30" id="30"/>
          <p:cNvGrpSpPr/>
          <p:nvPr/>
        </p:nvGrpSpPr>
        <p:grpSpPr>
          <a:xfrm rot="0">
            <a:off x="9334500" y="4191000"/>
            <a:ext cx="4953000" cy="1905000"/>
            <a:chOff x="0" y="0"/>
            <a:chExt cx="6604000" cy="2540000"/>
          </a:xfrm>
        </p:grpSpPr>
        <p:sp>
          <p:nvSpPr>
            <p:cNvPr name="Freeform 31" id="31"/>
            <p:cNvSpPr/>
            <p:nvPr/>
          </p:nvSpPr>
          <p:spPr>
            <a:xfrm flipH="false" flipV="false" rot="0">
              <a:off x="0" y="0"/>
              <a:ext cx="6604000" cy="2540000"/>
            </a:xfrm>
            <a:custGeom>
              <a:avLst/>
              <a:gdLst/>
              <a:ahLst/>
              <a:cxnLst/>
              <a:rect r="r" b="b" t="t" l="l"/>
              <a:pathLst>
                <a:path h="2540000" w="6604000">
                  <a:moveTo>
                    <a:pt x="254000" y="0"/>
                  </a:moveTo>
                  <a:lnTo>
                    <a:pt x="6350000" y="0"/>
                  </a:lnTo>
                  <a:cubicBezTo>
                    <a:pt x="6490280" y="0"/>
                    <a:pt x="6604000" y="113720"/>
                    <a:pt x="6604000" y="254000"/>
                  </a:cubicBezTo>
                  <a:lnTo>
                    <a:pt x="6604000" y="2286000"/>
                  </a:lnTo>
                  <a:cubicBezTo>
                    <a:pt x="6604000" y="2426280"/>
                    <a:pt x="6490280" y="2540000"/>
                    <a:pt x="6350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F0F4F8"/>
            </a:solidFill>
            <a:ln w="9525" cap="sq">
              <a:solidFill>
                <a:srgbClr val="D0DCE8"/>
              </a:solidFill>
              <a:prstDash val="solid"/>
              <a:miter/>
            </a:ln>
          </p:spPr>
        </p:sp>
        <p:sp>
          <p:nvSpPr>
            <p:cNvPr name="TextBox 32" id="32"/>
            <p:cNvSpPr txBox="true"/>
            <p:nvPr/>
          </p:nvSpPr>
          <p:spPr>
            <a:xfrm>
              <a:off x="0" y="-38100"/>
              <a:ext cx="6604000" cy="2578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9620250" y="4371975"/>
            <a:ext cx="476250" cy="537845"/>
          </a:xfrm>
          <a:prstGeom prst="rect">
            <a:avLst/>
          </a:prstGeom>
        </p:spPr>
        <p:txBody>
          <a:bodyPr anchor="t" rtlCol="false" tIns="0" lIns="0" bIns="0" rIns="0">
            <a:spAutoFit/>
          </a:bodyPr>
          <a:lstStyle/>
          <a:p>
            <a:pPr algn="l">
              <a:lnSpc>
                <a:spcPts val="4480"/>
              </a:lnSpc>
            </a:pPr>
            <a:r>
              <a:rPr lang="en-US" sz="3200">
                <a:solidFill>
                  <a:srgbClr val="1A2A3A"/>
                </a:solidFill>
                <a:latin typeface="Open Sans"/>
                <a:ea typeface="Open Sans"/>
                <a:cs typeface="Open Sans"/>
                <a:sym typeface="Open Sans"/>
              </a:rPr>
              <a:t>🐳</a:t>
            </a:r>
          </a:p>
        </p:txBody>
      </p:sp>
      <p:sp>
        <p:nvSpPr>
          <p:cNvPr name="TextBox 34" id="34"/>
          <p:cNvSpPr txBox="true"/>
          <p:nvPr/>
        </p:nvSpPr>
        <p:spPr>
          <a:xfrm rot="0">
            <a:off x="9620250" y="4829175"/>
            <a:ext cx="4381500" cy="377825"/>
          </a:xfrm>
          <a:prstGeom prst="rect">
            <a:avLst/>
          </a:prstGeom>
        </p:spPr>
        <p:txBody>
          <a:bodyPr anchor="t" rtlCol="false" tIns="0" lIns="0" bIns="0" rIns="0">
            <a:spAutoFit/>
          </a:bodyPr>
          <a:lstStyle/>
          <a:p>
            <a:pPr algn="l">
              <a:lnSpc>
                <a:spcPts val="2800"/>
              </a:lnSpc>
            </a:pPr>
            <a:r>
              <a:rPr lang="en-US" sz="2000">
                <a:solidFill>
                  <a:srgbClr val="0066B3"/>
                </a:solidFill>
                <a:latin typeface="Telegraf"/>
                <a:ea typeface="Telegraf"/>
                <a:cs typeface="Telegraf"/>
                <a:sym typeface="Telegraf"/>
              </a:rPr>
              <a:t>Docker</a:t>
            </a:r>
          </a:p>
        </p:txBody>
      </p:sp>
      <p:sp>
        <p:nvSpPr>
          <p:cNvPr name="TextBox 35" id="35"/>
          <p:cNvSpPr txBox="true"/>
          <p:nvPr/>
        </p:nvSpPr>
        <p:spPr>
          <a:xfrm rot="0">
            <a:off x="9620250" y="5248275"/>
            <a:ext cx="4381500" cy="552450"/>
          </a:xfrm>
          <a:prstGeom prst="rect">
            <a:avLst/>
          </a:prstGeom>
        </p:spPr>
        <p:txBody>
          <a:bodyPr anchor="t" rtlCol="false" tIns="0" lIns="0" bIns="0" rIns="0">
            <a:spAutoFit/>
          </a:bodyPr>
          <a:lstStyle/>
          <a:p>
            <a:pPr algn="l">
              <a:lnSpc>
                <a:spcPts val="2250"/>
              </a:lnSpc>
            </a:pPr>
            <a:r>
              <a:rPr lang="en-US" sz="1500">
                <a:solidFill>
                  <a:srgbClr val="4A5A6A"/>
                </a:solidFill>
                <a:latin typeface="Open Sans"/>
                <a:ea typeface="Open Sans"/>
                <a:cs typeface="Open Sans"/>
                <a:sym typeface="Open Sans"/>
              </a:rPr>
              <a:t>Mengisolasi setiap node dalam container agar sistem berjalan konsisten.</a:t>
            </a:r>
          </a:p>
        </p:txBody>
      </p:sp>
      <p:sp>
        <p:nvSpPr>
          <p:cNvPr name="Freeform 36" id="36"/>
          <p:cNvSpPr/>
          <p:nvPr/>
        </p:nvSpPr>
        <p:spPr>
          <a:xfrm flipH="false" flipV="false" rot="0">
            <a:off x="1524000" y="6477000"/>
            <a:ext cx="15240000" cy="3333750"/>
          </a:xfrm>
          <a:custGeom>
            <a:avLst/>
            <a:gdLst/>
            <a:ahLst/>
            <a:cxnLst/>
            <a:rect r="r" b="b" t="t" l="l"/>
            <a:pathLst>
              <a:path h="3333750" w="15240000">
                <a:moveTo>
                  <a:pt x="0" y="0"/>
                </a:moveTo>
                <a:lnTo>
                  <a:pt x="15240000" y="0"/>
                </a:lnTo>
                <a:lnTo>
                  <a:pt x="15240000" y="3333750"/>
                </a:lnTo>
                <a:lnTo>
                  <a:pt x="0" y="333375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2500" y="628650"/>
            <a:ext cx="7620000" cy="769620"/>
          </a:xfrm>
          <a:prstGeom prst="rect">
            <a:avLst/>
          </a:prstGeom>
        </p:spPr>
        <p:txBody>
          <a:bodyPr anchor="t" rtlCol="false" tIns="0" lIns="0" bIns="0" rIns="0">
            <a:spAutoFit/>
          </a:bodyPr>
          <a:lstStyle/>
          <a:p>
            <a:pPr algn="l" marL="0" indent="0" lvl="0">
              <a:lnSpc>
                <a:spcPts val="5880"/>
              </a:lnSpc>
              <a:spcBef>
                <a:spcPct val="0"/>
              </a:spcBef>
            </a:pPr>
            <a:r>
              <a:rPr lang="en-US" sz="4200" strike="noStrike" u="none">
                <a:solidFill>
                  <a:srgbClr val="1A2A3A"/>
                </a:solidFill>
                <a:latin typeface="Telegraf"/>
                <a:ea typeface="Telegraf"/>
                <a:cs typeface="Telegraf"/>
                <a:sym typeface="Telegraf"/>
              </a:rPr>
              <a:t>Teknologi Utama</a:t>
            </a:r>
          </a:p>
        </p:txBody>
      </p:sp>
      <p:grpSp>
        <p:nvGrpSpPr>
          <p:cNvPr name="Group 3" id="3"/>
          <p:cNvGrpSpPr/>
          <p:nvPr/>
        </p:nvGrpSpPr>
        <p:grpSpPr>
          <a:xfrm rot="0">
            <a:off x="952500" y="1333500"/>
            <a:ext cx="762000" cy="38100"/>
            <a:chOff x="0" y="0"/>
            <a:chExt cx="1016000" cy="50800"/>
          </a:xfrm>
        </p:grpSpPr>
        <p:sp>
          <p:nvSpPr>
            <p:cNvPr name="Freeform 4" id="4"/>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5" id="5"/>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428750" y="2095500"/>
            <a:ext cx="4762500" cy="3238500"/>
            <a:chOff x="0" y="0"/>
            <a:chExt cx="6350000" cy="4318000"/>
          </a:xfrm>
        </p:grpSpPr>
        <p:sp>
          <p:nvSpPr>
            <p:cNvPr name="Freeform 7" id="7"/>
            <p:cNvSpPr/>
            <p:nvPr/>
          </p:nvSpPr>
          <p:spPr>
            <a:xfrm flipH="false" flipV="false" rot="0">
              <a:off x="0" y="0"/>
              <a:ext cx="6350000" cy="4318000"/>
            </a:xfrm>
            <a:custGeom>
              <a:avLst/>
              <a:gdLst/>
              <a:ahLst/>
              <a:cxnLst/>
              <a:rect r="r" b="b" t="t" l="l"/>
              <a:pathLst>
                <a:path h="4318000" w="6350000">
                  <a:moveTo>
                    <a:pt x="431800" y="0"/>
                  </a:moveTo>
                  <a:lnTo>
                    <a:pt x="5918200" y="0"/>
                  </a:lnTo>
                  <a:cubicBezTo>
                    <a:pt x="6156677" y="0"/>
                    <a:pt x="6350000" y="193323"/>
                    <a:pt x="6350000" y="431800"/>
                  </a:cubicBezTo>
                  <a:lnTo>
                    <a:pt x="6350000" y="3886200"/>
                  </a:lnTo>
                  <a:cubicBezTo>
                    <a:pt x="6350000" y="4124677"/>
                    <a:pt x="6156677" y="4318000"/>
                    <a:pt x="5918200" y="4318000"/>
                  </a:cubicBezTo>
                  <a:lnTo>
                    <a:pt x="431800" y="4318000"/>
                  </a:lnTo>
                  <a:cubicBezTo>
                    <a:pt x="193323" y="4318000"/>
                    <a:pt x="0" y="4124677"/>
                    <a:pt x="0" y="3886200"/>
                  </a:cubicBezTo>
                  <a:lnTo>
                    <a:pt x="0" y="431800"/>
                  </a:lnTo>
                  <a:cubicBezTo>
                    <a:pt x="0" y="193323"/>
                    <a:pt x="193323" y="0"/>
                    <a:pt x="431800" y="0"/>
                  </a:cubicBezTo>
                  <a:close/>
                </a:path>
              </a:pathLst>
            </a:custGeom>
            <a:solidFill>
              <a:srgbClr val="F0F4F8"/>
            </a:solidFill>
            <a:ln w="9525" cap="sq">
              <a:solidFill>
                <a:srgbClr val="D0DCE8"/>
              </a:solidFill>
              <a:prstDash val="solid"/>
              <a:miter/>
            </a:ln>
          </p:spPr>
        </p:sp>
        <p:sp>
          <p:nvSpPr>
            <p:cNvPr name="TextBox 8" id="8"/>
            <p:cNvSpPr txBox="true"/>
            <p:nvPr/>
          </p:nvSpPr>
          <p:spPr>
            <a:xfrm>
              <a:off x="0" y="-38100"/>
              <a:ext cx="6350000" cy="4356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3333750" y="2390775"/>
            <a:ext cx="952500" cy="811530"/>
          </a:xfrm>
          <a:prstGeom prst="rect">
            <a:avLst/>
          </a:prstGeom>
        </p:spPr>
        <p:txBody>
          <a:bodyPr anchor="t" rtlCol="false" tIns="0" lIns="0" bIns="0" rIns="0">
            <a:spAutoFit/>
          </a:bodyPr>
          <a:lstStyle/>
          <a:p>
            <a:pPr algn="ctr" marL="0" indent="0" lvl="0">
              <a:lnSpc>
                <a:spcPts val="6719"/>
              </a:lnSpc>
              <a:spcBef>
                <a:spcPct val="0"/>
              </a:spcBef>
            </a:pPr>
            <a:r>
              <a:rPr lang="en-US" sz="4800" strike="noStrike" u="none">
                <a:solidFill>
                  <a:srgbClr val="1A2A3A"/>
                </a:solidFill>
                <a:latin typeface="Open Sans"/>
                <a:ea typeface="Open Sans"/>
                <a:cs typeface="Open Sans"/>
                <a:sym typeface="Open Sans"/>
              </a:rPr>
              <a:t>🔄</a:t>
            </a:r>
          </a:p>
        </p:txBody>
      </p:sp>
      <p:sp>
        <p:nvSpPr>
          <p:cNvPr name="TextBox 10" id="10"/>
          <p:cNvSpPr txBox="true"/>
          <p:nvPr/>
        </p:nvSpPr>
        <p:spPr>
          <a:xfrm rot="0">
            <a:off x="1619250" y="3162300"/>
            <a:ext cx="4381500" cy="434340"/>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0066B3"/>
                </a:solidFill>
                <a:latin typeface="Telegraf"/>
                <a:ea typeface="Telegraf"/>
                <a:cs typeface="Telegraf"/>
                <a:sym typeface="Telegraf"/>
              </a:rPr>
              <a:t>Primary-Replica</a:t>
            </a:r>
          </a:p>
        </p:txBody>
      </p:sp>
      <p:sp>
        <p:nvSpPr>
          <p:cNvPr name="TextBox 11" id="11"/>
          <p:cNvSpPr txBox="true"/>
          <p:nvPr/>
        </p:nvSpPr>
        <p:spPr>
          <a:xfrm rot="0">
            <a:off x="1714500" y="3676650"/>
            <a:ext cx="4191000" cy="1158240"/>
          </a:xfrm>
          <a:prstGeom prst="rect">
            <a:avLst/>
          </a:prstGeom>
        </p:spPr>
        <p:txBody>
          <a:bodyPr anchor="t" rtlCol="false" tIns="0" lIns="0" bIns="0" rIns="0">
            <a:spAutoFit/>
          </a:bodyPr>
          <a:lstStyle/>
          <a:p>
            <a:pPr algn="ctr" marL="0" indent="0" lvl="0">
              <a:lnSpc>
                <a:spcPts val="2399"/>
              </a:lnSpc>
              <a:spcBef>
                <a:spcPct val="0"/>
              </a:spcBef>
            </a:pPr>
            <a:r>
              <a:rPr lang="en-US" sz="1599" strike="noStrike" u="none">
                <a:solidFill>
                  <a:srgbClr val="4A5A6A"/>
                </a:solidFill>
                <a:latin typeface="Open Sans"/>
                <a:ea typeface="Open Sans"/>
                <a:cs typeface="Open Sans"/>
                <a:sym typeface="Open Sans"/>
              </a:rPr>
              <a:t>Memastikan replikasi data yang cepat dan toleransi terhadap kegagalan. Node primary menangani penulisan, sementara replica melayani pembacaan.</a:t>
            </a:r>
          </a:p>
        </p:txBody>
      </p:sp>
      <p:grpSp>
        <p:nvGrpSpPr>
          <p:cNvPr name="Group 12" id="12"/>
          <p:cNvGrpSpPr/>
          <p:nvPr/>
        </p:nvGrpSpPr>
        <p:grpSpPr>
          <a:xfrm rot="0">
            <a:off x="6762750" y="2095500"/>
            <a:ext cx="4762500" cy="3238500"/>
            <a:chOff x="0" y="0"/>
            <a:chExt cx="6350000" cy="4318000"/>
          </a:xfrm>
        </p:grpSpPr>
        <p:sp>
          <p:nvSpPr>
            <p:cNvPr name="Freeform 13" id="13"/>
            <p:cNvSpPr/>
            <p:nvPr/>
          </p:nvSpPr>
          <p:spPr>
            <a:xfrm flipH="false" flipV="false" rot="0">
              <a:off x="0" y="0"/>
              <a:ext cx="6350000" cy="4318000"/>
            </a:xfrm>
            <a:custGeom>
              <a:avLst/>
              <a:gdLst/>
              <a:ahLst/>
              <a:cxnLst/>
              <a:rect r="r" b="b" t="t" l="l"/>
              <a:pathLst>
                <a:path h="4318000" w="6350000">
                  <a:moveTo>
                    <a:pt x="431800" y="0"/>
                  </a:moveTo>
                  <a:lnTo>
                    <a:pt x="5918200" y="0"/>
                  </a:lnTo>
                  <a:cubicBezTo>
                    <a:pt x="6156677" y="0"/>
                    <a:pt x="6350000" y="193323"/>
                    <a:pt x="6350000" y="431800"/>
                  </a:cubicBezTo>
                  <a:lnTo>
                    <a:pt x="6350000" y="3886200"/>
                  </a:lnTo>
                  <a:cubicBezTo>
                    <a:pt x="6350000" y="4124677"/>
                    <a:pt x="6156677" y="4318000"/>
                    <a:pt x="5918200" y="4318000"/>
                  </a:cubicBezTo>
                  <a:lnTo>
                    <a:pt x="431800" y="4318000"/>
                  </a:lnTo>
                  <a:cubicBezTo>
                    <a:pt x="193323" y="4318000"/>
                    <a:pt x="0" y="4124677"/>
                    <a:pt x="0" y="3886200"/>
                  </a:cubicBezTo>
                  <a:lnTo>
                    <a:pt x="0" y="431800"/>
                  </a:lnTo>
                  <a:cubicBezTo>
                    <a:pt x="0" y="193323"/>
                    <a:pt x="193323" y="0"/>
                    <a:pt x="431800" y="0"/>
                  </a:cubicBezTo>
                  <a:close/>
                </a:path>
              </a:pathLst>
            </a:custGeom>
            <a:solidFill>
              <a:srgbClr val="F0F4F8"/>
            </a:solidFill>
            <a:ln w="9525" cap="sq">
              <a:solidFill>
                <a:srgbClr val="D0DCE8"/>
              </a:solidFill>
              <a:prstDash val="solid"/>
              <a:miter/>
            </a:ln>
          </p:spPr>
        </p:sp>
        <p:sp>
          <p:nvSpPr>
            <p:cNvPr name="TextBox 14" id="14"/>
            <p:cNvSpPr txBox="true"/>
            <p:nvPr/>
          </p:nvSpPr>
          <p:spPr>
            <a:xfrm>
              <a:off x="0" y="-38100"/>
              <a:ext cx="6350000" cy="4356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8667750" y="2390775"/>
            <a:ext cx="952500" cy="811530"/>
          </a:xfrm>
          <a:prstGeom prst="rect">
            <a:avLst/>
          </a:prstGeom>
        </p:spPr>
        <p:txBody>
          <a:bodyPr anchor="t" rtlCol="false" tIns="0" lIns="0" bIns="0" rIns="0">
            <a:spAutoFit/>
          </a:bodyPr>
          <a:lstStyle/>
          <a:p>
            <a:pPr algn="ctr" marL="0" indent="0" lvl="0">
              <a:lnSpc>
                <a:spcPts val="6719"/>
              </a:lnSpc>
              <a:spcBef>
                <a:spcPct val="0"/>
              </a:spcBef>
            </a:pPr>
            <a:r>
              <a:rPr lang="en-US" sz="4800" strike="noStrike" u="none">
                <a:solidFill>
                  <a:srgbClr val="1A2A3A"/>
                </a:solidFill>
                <a:latin typeface="Open Sans"/>
                <a:ea typeface="Open Sans"/>
                <a:cs typeface="Open Sans"/>
                <a:sym typeface="Open Sans"/>
              </a:rPr>
              <a:t>🐳</a:t>
            </a:r>
          </a:p>
        </p:txBody>
      </p:sp>
      <p:sp>
        <p:nvSpPr>
          <p:cNvPr name="TextBox 16" id="16"/>
          <p:cNvSpPr txBox="true"/>
          <p:nvPr/>
        </p:nvSpPr>
        <p:spPr>
          <a:xfrm rot="0">
            <a:off x="6953250" y="3162300"/>
            <a:ext cx="4381500" cy="434340"/>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0066B3"/>
                </a:solidFill>
                <a:latin typeface="Telegraf"/>
                <a:ea typeface="Telegraf"/>
                <a:cs typeface="Telegraf"/>
                <a:sym typeface="Telegraf"/>
              </a:rPr>
              <a:t>Docker Compose</a:t>
            </a:r>
          </a:p>
        </p:txBody>
      </p:sp>
      <p:sp>
        <p:nvSpPr>
          <p:cNvPr name="TextBox 17" id="17"/>
          <p:cNvSpPr txBox="true"/>
          <p:nvPr/>
        </p:nvSpPr>
        <p:spPr>
          <a:xfrm rot="0">
            <a:off x="7048500" y="3676650"/>
            <a:ext cx="4191000" cy="1158240"/>
          </a:xfrm>
          <a:prstGeom prst="rect">
            <a:avLst/>
          </a:prstGeom>
        </p:spPr>
        <p:txBody>
          <a:bodyPr anchor="t" rtlCol="false" tIns="0" lIns="0" bIns="0" rIns="0">
            <a:spAutoFit/>
          </a:bodyPr>
          <a:lstStyle/>
          <a:p>
            <a:pPr algn="ctr" marL="0" indent="0" lvl="0">
              <a:lnSpc>
                <a:spcPts val="2399"/>
              </a:lnSpc>
              <a:spcBef>
                <a:spcPct val="0"/>
              </a:spcBef>
            </a:pPr>
            <a:r>
              <a:rPr lang="en-US" sz="1599" strike="noStrike" u="none">
                <a:solidFill>
                  <a:srgbClr val="4A5A6A"/>
                </a:solidFill>
                <a:latin typeface="Open Sans"/>
                <a:ea typeface="Open Sans"/>
                <a:cs typeface="Open Sans"/>
                <a:sym typeface="Open Sans"/>
              </a:rPr>
              <a:t>Menyederhanakan deployment dan orkestrasi seluruh layanan dalam satu konfigurasi. Memungkinkan setup environment yang konsisten.</a:t>
            </a:r>
          </a:p>
        </p:txBody>
      </p:sp>
      <p:grpSp>
        <p:nvGrpSpPr>
          <p:cNvPr name="Group 18" id="18"/>
          <p:cNvGrpSpPr/>
          <p:nvPr/>
        </p:nvGrpSpPr>
        <p:grpSpPr>
          <a:xfrm rot="0">
            <a:off x="12096750" y="2095500"/>
            <a:ext cx="4762500" cy="3238500"/>
            <a:chOff x="0" y="0"/>
            <a:chExt cx="6350000" cy="4318000"/>
          </a:xfrm>
        </p:grpSpPr>
        <p:sp>
          <p:nvSpPr>
            <p:cNvPr name="Freeform 19" id="19"/>
            <p:cNvSpPr/>
            <p:nvPr/>
          </p:nvSpPr>
          <p:spPr>
            <a:xfrm flipH="false" flipV="false" rot="0">
              <a:off x="0" y="0"/>
              <a:ext cx="6350000" cy="4318000"/>
            </a:xfrm>
            <a:custGeom>
              <a:avLst/>
              <a:gdLst/>
              <a:ahLst/>
              <a:cxnLst/>
              <a:rect r="r" b="b" t="t" l="l"/>
              <a:pathLst>
                <a:path h="4318000" w="6350000">
                  <a:moveTo>
                    <a:pt x="431800" y="0"/>
                  </a:moveTo>
                  <a:lnTo>
                    <a:pt x="5918200" y="0"/>
                  </a:lnTo>
                  <a:cubicBezTo>
                    <a:pt x="6156677" y="0"/>
                    <a:pt x="6350000" y="193323"/>
                    <a:pt x="6350000" y="431800"/>
                  </a:cubicBezTo>
                  <a:lnTo>
                    <a:pt x="6350000" y="3886200"/>
                  </a:lnTo>
                  <a:cubicBezTo>
                    <a:pt x="6350000" y="4124677"/>
                    <a:pt x="6156677" y="4318000"/>
                    <a:pt x="5918200" y="4318000"/>
                  </a:cubicBezTo>
                  <a:lnTo>
                    <a:pt x="431800" y="4318000"/>
                  </a:lnTo>
                  <a:cubicBezTo>
                    <a:pt x="193323" y="4318000"/>
                    <a:pt x="0" y="4124677"/>
                    <a:pt x="0" y="3886200"/>
                  </a:cubicBezTo>
                  <a:lnTo>
                    <a:pt x="0" y="431800"/>
                  </a:lnTo>
                  <a:cubicBezTo>
                    <a:pt x="0" y="193323"/>
                    <a:pt x="193323" y="0"/>
                    <a:pt x="431800" y="0"/>
                  </a:cubicBezTo>
                  <a:close/>
                </a:path>
              </a:pathLst>
            </a:custGeom>
            <a:solidFill>
              <a:srgbClr val="F0F4F8"/>
            </a:solidFill>
            <a:ln w="9525" cap="sq">
              <a:solidFill>
                <a:srgbClr val="D0DCE8"/>
              </a:solidFill>
              <a:prstDash val="solid"/>
              <a:miter/>
            </a:ln>
          </p:spPr>
        </p:sp>
        <p:sp>
          <p:nvSpPr>
            <p:cNvPr name="TextBox 20" id="20"/>
            <p:cNvSpPr txBox="true"/>
            <p:nvPr/>
          </p:nvSpPr>
          <p:spPr>
            <a:xfrm>
              <a:off x="0" y="-38100"/>
              <a:ext cx="6350000" cy="4356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4001750" y="2390775"/>
            <a:ext cx="952500" cy="811530"/>
          </a:xfrm>
          <a:prstGeom prst="rect">
            <a:avLst/>
          </a:prstGeom>
        </p:spPr>
        <p:txBody>
          <a:bodyPr anchor="t" rtlCol="false" tIns="0" lIns="0" bIns="0" rIns="0">
            <a:spAutoFit/>
          </a:bodyPr>
          <a:lstStyle/>
          <a:p>
            <a:pPr algn="ctr" marL="0" indent="0" lvl="0">
              <a:lnSpc>
                <a:spcPts val="6719"/>
              </a:lnSpc>
              <a:spcBef>
                <a:spcPct val="0"/>
              </a:spcBef>
            </a:pPr>
            <a:r>
              <a:rPr lang="en-US" sz="4800" strike="noStrike" u="none">
                <a:solidFill>
                  <a:srgbClr val="1A2A3A"/>
                </a:solidFill>
                <a:latin typeface="Open Sans"/>
                <a:ea typeface="Open Sans"/>
                <a:cs typeface="Open Sans"/>
                <a:sym typeface="Open Sans"/>
              </a:rPr>
              <a:t>🔥</a:t>
            </a:r>
          </a:p>
        </p:txBody>
      </p:sp>
      <p:sp>
        <p:nvSpPr>
          <p:cNvPr name="TextBox 22" id="22"/>
          <p:cNvSpPr txBox="true"/>
          <p:nvPr/>
        </p:nvSpPr>
        <p:spPr>
          <a:xfrm rot="0">
            <a:off x="12287250" y="3162300"/>
            <a:ext cx="4381500" cy="434340"/>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0066B3"/>
                </a:solidFill>
                <a:latin typeface="Telegraf"/>
                <a:ea typeface="Telegraf"/>
                <a:cs typeface="Telegraf"/>
                <a:sym typeface="Telegraf"/>
              </a:rPr>
              <a:t>Firebase</a:t>
            </a:r>
          </a:p>
        </p:txBody>
      </p:sp>
      <p:sp>
        <p:nvSpPr>
          <p:cNvPr name="TextBox 23" id="23"/>
          <p:cNvSpPr txBox="true"/>
          <p:nvPr/>
        </p:nvSpPr>
        <p:spPr>
          <a:xfrm rot="0">
            <a:off x="12382500" y="3676650"/>
            <a:ext cx="4191000" cy="862965"/>
          </a:xfrm>
          <a:prstGeom prst="rect">
            <a:avLst/>
          </a:prstGeom>
        </p:spPr>
        <p:txBody>
          <a:bodyPr anchor="t" rtlCol="false" tIns="0" lIns="0" bIns="0" rIns="0">
            <a:spAutoFit/>
          </a:bodyPr>
          <a:lstStyle/>
          <a:p>
            <a:pPr algn="ctr" marL="0" indent="0" lvl="0">
              <a:lnSpc>
                <a:spcPts val="2399"/>
              </a:lnSpc>
              <a:spcBef>
                <a:spcPct val="0"/>
              </a:spcBef>
            </a:pPr>
            <a:r>
              <a:rPr lang="en-US" sz="1599" strike="noStrike" u="none">
                <a:solidFill>
                  <a:srgbClr val="4A5A6A"/>
                </a:solidFill>
                <a:latin typeface="Open Sans"/>
                <a:ea typeface="Open Sans"/>
                <a:cs typeface="Open Sans"/>
                <a:sym typeface="Open Sans"/>
              </a:rPr>
              <a:t>Menyediakan sinkronisasi real-time antar node dan klien. Memastikan data formula selalu up-to-date di semua titik akses.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2500" y="628650"/>
            <a:ext cx="7620000" cy="769620"/>
          </a:xfrm>
          <a:prstGeom prst="rect">
            <a:avLst/>
          </a:prstGeom>
        </p:spPr>
        <p:txBody>
          <a:bodyPr anchor="t" rtlCol="false" tIns="0" lIns="0" bIns="0" rIns="0">
            <a:spAutoFit/>
          </a:bodyPr>
          <a:lstStyle/>
          <a:p>
            <a:pPr algn="l" marL="0" indent="0" lvl="0">
              <a:lnSpc>
                <a:spcPts val="5880"/>
              </a:lnSpc>
              <a:spcBef>
                <a:spcPct val="0"/>
              </a:spcBef>
            </a:pPr>
            <a:r>
              <a:rPr lang="en-US" sz="4200" strike="noStrike" u="none">
                <a:solidFill>
                  <a:srgbClr val="1A2A3A"/>
                </a:solidFill>
                <a:latin typeface="Telegraf"/>
                <a:ea typeface="Telegraf"/>
                <a:cs typeface="Telegraf"/>
                <a:sym typeface="Telegraf"/>
              </a:rPr>
              <a:t>Keunggulan Sistem</a:t>
            </a:r>
          </a:p>
        </p:txBody>
      </p:sp>
      <p:grpSp>
        <p:nvGrpSpPr>
          <p:cNvPr name="Group 3" id="3"/>
          <p:cNvGrpSpPr/>
          <p:nvPr/>
        </p:nvGrpSpPr>
        <p:grpSpPr>
          <a:xfrm rot="0">
            <a:off x="952500" y="1333500"/>
            <a:ext cx="762000" cy="38100"/>
            <a:chOff x="0" y="0"/>
            <a:chExt cx="1016000" cy="50800"/>
          </a:xfrm>
        </p:grpSpPr>
        <p:sp>
          <p:nvSpPr>
            <p:cNvPr name="Freeform 4" id="4"/>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5" id="5"/>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952500" y="1905000"/>
            <a:ext cx="7810500" cy="2286000"/>
            <a:chOff x="0" y="0"/>
            <a:chExt cx="10414000" cy="3048000"/>
          </a:xfrm>
        </p:grpSpPr>
        <p:sp>
          <p:nvSpPr>
            <p:cNvPr name="Freeform 7" id="7"/>
            <p:cNvSpPr/>
            <p:nvPr/>
          </p:nvSpPr>
          <p:spPr>
            <a:xfrm flipH="false" flipV="false" rot="0">
              <a:off x="0" y="0"/>
              <a:ext cx="10414000" cy="3048000"/>
            </a:xfrm>
            <a:custGeom>
              <a:avLst/>
              <a:gdLst/>
              <a:ahLst/>
              <a:cxnLst/>
              <a:rect r="r" b="b" t="t" l="l"/>
              <a:pathLst>
                <a:path h="3048000" w="10414000">
                  <a:moveTo>
                    <a:pt x="304800" y="0"/>
                  </a:moveTo>
                  <a:lnTo>
                    <a:pt x="10109200" y="0"/>
                  </a:lnTo>
                  <a:cubicBezTo>
                    <a:pt x="10277536" y="0"/>
                    <a:pt x="10414000" y="136464"/>
                    <a:pt x="10414000" y="304800"/>
                  </a:cubicBezTo>
                  <a:lnTo>
                    <a:pt x="10414000" y="2743200"/>
                  </a:lnTo>
                  <a:cubicBezTo>
                    <a:pt x="10414000" y="2911536"/>
                    <a:pt x="10277536" y="3048000"/>
                    <a:pt x="10109200" y="3048000"/>
                  </a:cubicBezTo>
                  <a:lnTo>
                    <a:pt x="304800" y="3048000"/>
                  </a:lnTo>
                  <a:cubicBezTo>
                    <a:pt x="136464" y="3048000"/>
                    <a:pt x="0" y="2911536"/>
                    <a:pt x="0" y="2743200"/>
                  </a:cubicBezTo>
                  <a:lnTo>
                    <a:pt x="0" y="304800"/>
                  </a:lnTo>
                  <a:cubicBezTo>
                    <a:pt x="0" y="136464"/>
                    <a:pt x="136464" y="0"/>
                    <a:pt x="304800" y="0"/>
                  </a:cubicBezTo>
                  <a:close/>
                </a:path>
              </a:pathLst>
            </a:custGeom>
            <a:solidFill>
              <a:srgbClr val="F0F4F8"/>
            </a:solidFill>
            <a:ln w="9525" cap="sq">
              <a:solidFill>
                <a:srgbClr val="D0DCE8"/>
              </a:solidFill>
              <a:prstDash val="solid"/>
              <a:miter/>
            </a:ln>
          </p:spPr>
        </p:sp>
        <p:sp>
          <p:nvSpPr>
            <p:cNvPr name="TextBox 8" id="8"/>
            <p:cNvSpPr txBox="true"/>
            <p:nvPr/>
          </p:nvSpPr>
          <p:spPr>
            <a:xfrm>
              <a:off x="0" y="-38100"/>
              <a:ext cx="10414000" cy="3086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333500" y="2219325"/>
            <a:ext cx="7048500" cy="401320"/>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66B3"/>
                </a:solidFill>
                <a:latin typeface="Telegraf"/>
                <a:ea typeface="Telegraf"/>
                <a:cs typeface="Telegraf"/>
                <a:sym typeface="Telegraf"/>
              </a:rPr>
              <a:t>High Availability</a:t>
            </a:r>
          </a:p>
        </p:txBody>
      </p:sp>
      <p:sp>
        <p:nvSpPr>
          <p:cNvPr name="TextBox 10" id="10"/>
          <p:cNvSpPr txBox="true"/>
          <p:nvPr/>
        </p:nvSpPr>
        <p:spPr>
          <a:xfrm rot="0">
            <a:off x="1333500" y="2724150"/>
            <a:ext cx="704850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4A5A6A"/>
                </a:solidFill>
                <a:latin typeface="Open Sans"/>
                <a:ea typeface="Open Sans"/>
                <a:cs typeface="Open Sans"/>
                <a:sym typeface="Open Sans"/>
              </a:rPr>
              <a:t>Sistem tetap beroperasi meskipun salah satu node mengalami kegagalan, berkat mekanisme failover otomatis.</a:t>
            </a:r>
          </a:p>
        </p:txBody>
      </p:sp>
      <p:grpSp>
        <p:nvGrpSpPr>
          <p:cNvPr name="Group 11" id="11"/>
          <p:cNvGrpSpPr/>
          <p:nvPr/>
        </p:nvGrpSpPr>
        <p:grpSpPr>
          <a:xfrm rot="0">
            <a:off x="9334500" y="1905000"/>
            <a:ext cx="7810500" cy="2286000"/>
            <a:chOff x="0" y="0"/>
            <a:chExt cx="10414000" cy="3048000"/>
          </a:xfrm>
        </p:grpSpPr>
        <p:sp>
          <p:nvSpPr>
            <p:cNvPr name="Freeform 12" id="12"/>
            <p:cNvSpPr/>
            <p:nvPr/>
          </p:nvSpPr>
          <p:spPr>
            <a:xfrm flipH="false" flipV="false" rot="0">
              <a:off x="0" y="0"/>
              <a:ext cx="10414000" cy="3048000"/>
            </a:xfrm>
            <a:custGeom>
              <a:avLst/>
              <a:gdLst/>
              <a:ahLst/>
              <a:cxnLst/>
              <a:rect r="r" b="b" t="t" l="l"/>
              <a:pathLst>
                <a:path h="3048000" w="10414000">
                  <a:moveTo>
                    <a:pt x="304800" y="0"/>
                  </a:moveTo>
                  <a:lnTo>
                    <a:pt x="10109200" y="0"/>
                  </a:lnTo>
                  <a:cubicBezTo>
                    <a:pt x="10277536" y="0"/>
                    <a:pt x="10414000" y="136464"/>
                    <a:pt x="10414000" y="304800"/>
                  </a:cubicBezTo>
                  <a:lnTo>
                    <a:pt x="10414000" y="2743200"/>
                  </a:lnTo>
                  <a:cubicBezTo>
                    <a:pt x="10414000" y="2911536"/>
                    <a:pt x="10277536" y="3048000"/>
                    <a:pt x="10109200" y="3048000"/>
                  </a:cubicBezTo>
                  <a:lnTo>
                    <a:pt x="304800" y="3048000"/>
                  </a:lnTo>
                  <a:cubicBezTo>
                    <a:pt x="136464" y="3048000"/>
                    <a:pt x="0" y="2911536"/>
                    <a:pt x="0" y="2743200"/>
                  </a:cubicBezTo>
                  <a:lnTo>
                    <a:pt x="0" y="304800"/>
                  </a:lnTo>
                  <a:cubicBezTo>
                    <a:pt x="0" y="136464"/>
                    <a:pt x="136464" y="0"/>
                    <a:pt x="304800" y="0"/>
                  </a:cubicBezTo>
                  <a:close/>
                </a:path>
              </a:pathLst>
            </a:custGeom>
            <a:solidFill>
              <a:srgbClr val="F0F4F8"/>
            </a:solidFill>
            <a:ln w="9525" cap="sq">
              <a:solidFill>
                <a:srgbClr val="D0DCE8"/>
              </a:solidFill>
              <a:prstDash val="solid"/>
              <a:miter/>
            </a:ln>
          </p:spPr>
        </p:sp>
        <p:sp>
          <p:nvSpPr>
            <p:cNvPr name="TextBox 13" id="13"/>
            <p:cNvSpPr txBox="true"/>
            <p:nvPr/>
          </p:nvSpPr>
          <p:spPr>
            <a:xfrm>
              <a:off x="0" y="-38100"/>
              <a:ext cx="10414000" cy="3086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9715500" y="2219325"/>
            <a:ext cx="7048500" cy="401320"/>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66B3"/>
                </a:solidFill>
                <a:latin typeface="Telegraf"/>
                <a:ea typeface="Telegraf"/>
                <a:cs typeface="Telegraf"/>
                <a:sym typeface="Telegraf"/>
              </a:rPr>
              <a:t>Real-time Synchronization</a:t>
            </a:r>
          </a:p>
        </p:txBody>
      </p:sp>
      <p:sp>
        <p:nvSpPr>
          <p:cNvPr name="TextBox 15" id="15"/>
          <p:cNvSpPr txBox="true"/>
          <p:nvPr/>
        </p:nvSpPr>
        <p:spPr>
          <a:xfrm rot="0">
            <a:off x="9715500" y="2724150"/>
            <a:ext cx="704850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4A5A6A"/>
                </a:solidFill>
                <a:latin typeface="Open Sans"/>
                <a:ea typeface="Open Sans"/>
                <a:cs typeface="Open Sans"/>
                <a:sym typeface="Open Sans"/>
              </a:rPr>
              <a:t>Data formula tersinkronisasi secara real-time di seluruh node menggunakan Firebase, memastikan konsistensi.</a:t>
            </a:r>
          </a:p>
        </p:txBody>
      </p:sp>
      <p:grpSp>
        <p:nvGrpSpPr>
          <p:cNvPr name="Group 16" id="16"/>
          <p:cNvGrpSpPr/>
          <p:nvPr/>
        </p:nvGrpSpPr>
        <p:grpSpPr>
          <a:xfrm rot="0">
            <a:off x="952500" y="4572000"/>
            <a:ext cx="7810500" cy="2286000"/>
            <a:chOff x="0" y="0"/>
            <a:chExt cx="10414000" cy="3048000"/>
          </a:xfrm>
        </p:grpSpPr>
        <p:sp>
          <p:nvSpPr>
            <p:cNvPr name="Freeform 17" id="17"/>
            <p:cNvSpPr/>
            <p:nvPr/>
          </p:nvSpPr>
          <p:spPr>
            <a:xfrm flipH="false" flipV="false" rot="0">
              <a:off x="0" y="0"/>
              <a:ext cx="10414000" cy="3048000"/>
            </a:xfrm>
            <a:custGeom>
              <a:avLst/>
              <a:gdLst/>
              <a:ahLst/>
              <a:cxnLst/>
              <a:rect r="r" b="b" t="t" l="l"/>
              <a:pathLst>
                <a:path h="3048000" w="10414000">
                  <a:moveTo>
                    <a:pt x="304800" y="0"/>
                  </a:moveTo>
                  <a:lnTo>
                    <a:pt x="10109200" y="0"/>
                  </a:lnTo>
                  <a:cubicBezTo>
                    <a:pt x="10277536" y="0"/>
                    <a:pt x="10414000" y="136464"/>
                    <a:pt x="10414000" y="304800"/>
                  </a:cubicBezTo>
                  <a:lnTo>
                    <a:pt x="10414000" y="2743200"/>
                  </a:lnTo>
                  <a:cubicBezTo>
                    <a:pt x="10414000" y="2911536"/>
                    <a:pt x="10277536" y="3048000"/>
                    <a:pt x="10109200" y="3048000"/>
                  </a:cubicBezTo>
                  <a:lnTo>
                    <a:pt x="304800" y="3048000"/>
                  </a:lnTo>
                  <a:cubicBezTo>
                    <a:pt x="136464" y="3048000"/>
                    <a:pt x="0" y="2911536"/>
                    <a:pt x="0" y="2743200"/>
                  </a:cubicBezTo>
                  <a:lnTo>
                    <a:pt x="0" y="304800"/>
                  </a:lnTo>
                  <a:cubicBezTo>
                    <a:pt x="0" y="136464"/>
                    <a:pt x="136464" y="0"/>
                    <a:pt x="304800" y="0"/>
                  </a:cubicBezTo>
                  <a:close/>
                </a:path>
              </a:pathLst>
            </a:custGeom>
            <a:solidFill>
              <a:srgbClr val="F0F4F8"/>
            </a:solidFill>
            <a:ln w="9525" cap="sq">
              <a:solidFill>
                <a:srgbClr val="D0DCE8"/>
              </a:solidFill>
              <a:prstDash val="solid"/>
              <a:miter/>
            </a:ln>
          </p:spPr>
        </p:sp>
        <p:sp>
          <p:nvSpPr>
            <p:cNvPr name="TextBox 18" id="18"/>
            <p:cNvSpPr txBox="true"/>
            <p:nvPr/>
          </p:nvSpPr>
          <p:spPr>
            <a:xfrm>
              <a:off x="0" y="-38100"/>
              <a:ext cx="10414000" cy="3086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1333500" y="4886325"/>
            <a:ext cx="7048500" cy="401320"/>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66B3"/>
                </a:solidFill>
                <a:latin typeface="Telegraf"/>
                <a:ea typeface="Telegraf"/>
                <a:cs typeface="Telegraf"/>
                <a:sym typeface="Telegraf"/>
              </a:rPr>
              <a:t>Fast Deployment</a:t>
            </a:r>
          </a:p>
        </p:txBody>
      </p:sp>
      <p:sp>
        <p:nvSpPr>
          <p:cNvPr name="TextBox 20" id="20"/>
          <p:cNvSpPr txBox="true"/>
          <p:nvPr/>
        </p:nvSpPr>
        <p:spPr>
          <a:xfrm rot="0">
            <a:off x="1333500" y="5391150"/>
            <a:ext cx="704850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4A5A6A"/>
                </a:solidFill>
                <a:latin typeface="Open Sans"/>
                <a:ea typeface="Open Sans"/>
                <a:cs typeface="Open Sans"/>
                <a:sym typeface="Open Sans"/>
              </a:rPr>
              <a:t>Docker Compose memungkinkan deployment seluruh stack dalam hitungan menit dengan konfigurasi yang reproducible.</a:t>
            </a:r>
          </a:p>
        </p:txBody>
      </p:sp>
      <p:grpSp>
        <p:nvGrpSpPr>
          <p:cNvPr name="Group 21" id="21"/>
          <p:cNvGrpSpPr/>
          <p:nvPr/>
        </p:nvGrpSpPr>
        <p:grpSpPr>
          <a:xfrm rot="0">
            <a:off x="9334500" y="4572000"/>
            <a:ext cx="7810500" cy="2286000"/>
            <a:chOff x="0" y="0"/>
            <a:chExt cx="10414000" cy="3048000"/>
          </a:xfrm>
        </p:grpSpPr>
        <p:sp>
          <p:nvSpPr>
            <p:cNvPr name="Freeform 22" id="22"/>
            <p:cNvSpPr/>
            <p:nvPr/>
          </p:nvSpPr>
          <p:spPr>
            <a:xfrm flipH="false" flipV="false" rot="0">
              <a:off x="0" y="0"/>
              <a:ext cx="10414000" cy="3048000"/>
            </a:xfrm>
            <a:custGeom>
              <a:avLst/>
              <a:gdLst/>
              <a:ahLst/>
              <a:cxnLst/>
              <a:rect r="r" b="b" t="t" l="l"/>
              <a:pathLst>
                <a:path h="3048000" w="10414000">
                  <a:moveTo>
                    <a:pt x="304800" y="0"/>
                  </a:moveTo>
                  <a:lnTo>
                    <a:pt x="10109200" y="0"/>
                  </a:lnTo>
                  <a:cubicBezTo>
                    <a:pt x="10277536" y="0"/>
                    <a:pt x="10414000" y="136464"/>
                    <a:pt x="10414000" y="304800"/>
                  </a:cubicBezTo>
                  <a:lnTo>
                    <a:pt x="10414000" y="2743200"/>
                  </a:lnTo>
                  <a:cubicBezTo>
                    <a:pt x="10414000" y="2911536"/>
                    <a:pt x="10277536" y="3048000"/>
                    <a:pt x="10109200" y="3048000"/>
                  </a:cubicBezTo>
                  <a:lnTo>
                    <a:pt x="304800" y="3048000"/>
                  </a:lnTo>
                  <a:cubicBezTo>
                    <a:pt x="136464" y="3048000"/>
                    <a:pt x="0" y="2911536"/>
                    <a:pt x="0" y="2743200"/>
                  </a:cubicBezTo>
                  <a:lnTo>
                    <a:pt x="0" y="304800"/>
                  </a:lnTo>
                  <a:cubicBezTo>
                    <a:pt x="0" y="136464"/>
                    <a:pt x="136464" y="0"/>
                    <a:pt x="304800" y="0"/>
                  </a:cubicBezTo>
                  <a:close/>
                </a:path>
              </a:pathLst>
            </a:custGeom>
            <a:solidFill>
              <a:srgbClr val="F0F4F8"/>
            </a:solidFill>
            <a:ln w="9525" cap="sq">
              <a:solidFill>
                <a:srgbClr val="D0DCE8"/>
              </a:solidFill>
              <a:prstDash val="solid"/>
              <a:miter/>
            </a:ln>
          </p:spPr>
        </p:sp>
        <p:sp>
          <p:nvSpPr>
            <p:cNvPr name="TextBox 23" id="23"/>
            <p:cNvSpPr txBox="true"/>
            <p:nvPr/>
          </p:nvSpPr>
          <p:spPr>
            <a:xfrm>
              <a:off x="0" y="-38100"/>
              <a:ext cx="10414000" cy="30861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9715500" y="4886325"/>
            <a:ext cx="7048500" cy="401320"/>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66B3"/>
                </a:solidFill>
                <a:latin typeface="Telegraf"/>
                <a:ea typeface="Telegraf"/>
                <a:cs typeface="Telegraf"/>
                <a:sym typeface="Telegraf"/>
              </a:rPr>
              <a:t>Scalability</a:t>
            </a:r>
          </a:p>
        </p:txBody>
      </p:sp>
      <p:sp>
        <p:nvSpPr>
          <p:cNvPr name="TextBox 25" id="25"/>
          <p:cNvSpPr txBox="true"/>
          <p:nvPr/>
        </p:nvSpPr>
        <p:spPr>
          <a:xfrm rot="0">
            <a:off x="9715500" y="5391150"/>
            <a:ext cx="704850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4A5A6A"/>
                </a:solidFill>
                <a:latin typeface="Open Sans"/>
                <a:ea typeface="Open Sans"/>
                <a:cs typeface="Open Sans"/>
                <a:sym typeface="Open Sans"/>
              </a:rPr>
              <a:t>Arsitektur dapat dengan mudah di-scale horizontal dengan menambahkan replica node sesuai kebutuhan beban.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2500" y="628650"/>
            <a:ext cx="7620000" cy="769620"/>
          </a:xfrm>
          <a:prstGeom prst="rect">
            <a:avLst/>
          </a:prstGeom>
        </p:spPr>
        <p:txBody>
          <a:bodyPr anchor="t" rtlCol="false" tIns="0" lIns="0" bIns="0" rIns="0">
            <a:spAutoFit/>
          </a:bodyPr>
          <a:lstStyle/>
          <a:p>
            <a:pPr algn="l" marL="0" indent="0" lvl="0">
              <a:lnSpc>
                <a:spcPts val="5880"/>
              </a:lnSpc>
              <a:spcBef>
                <a:spcPct val="0"/>
              </a:spcBef>
            </a:pPr>
            <a:r>
              <a:rPr lang="en-US" sz="4200" strike="noStrike" u="none">
                <a:solidFill>
                  <a:srgbClr val="1A2A3A"/>
                </a:solidFill>
                <a:latin typeface="Telegraf"/>
                <a:ea typeface="Telegraf"/>
                <a:cs typeface="Telegraf"/>
                <a:sym typeface="Telegraf"/>
              </a:rPr>
              <a:t>Kekurangan &amp; Tantangan</a:t>
            </a:r>
          </a:p>
        </p:txBody>
      </p:sp>
      <p:grpSp>
        <p:nvGrpSpPr>
          <p:cNvPr name="Group 3" id="3"/>
          <p:cNvGrpSpPr/>
          <p:nvPr/>
        </p:nvGrpSpPr>
        <p:grpSpPr>
          <a:xfrm rot="0">
            <a:off x="952500" y="1333500"/>
            <a:ext cx="762000" cy="38100"/>
            <a:chOff x="0" y="0"/>
            <a:chExt cx="1016000" cy="50800"/>
          </a:xfrm>
        </p:grpSpPr>
        <p:sp>
          <p:nvSpPr>
            <p:cNvPr name="Freeform 4" id="4"/>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5" id="5"/>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952500" y="2095500"/>
            <a:ext cx="16383000" cy="2381250"/>
            <a:chOff x="0" y="0"/>
            <a:chExt cx="21844000" cy="3175000"/>
          </a:xfrm>
        </p:grpSpPr>
        <p:sp>
          <p:nvSpPr>
            <p:cNvPr name="Freeform 7" id="7"/>
            <p:cNvSpPr/>
            <p:nvPr/>
          </p:nvSpPr>
          <p:spPr>
            <a:xfrm flipH="false" flipV="false" rot="0">
              <a:off x="0" y="0"/>
              <a:ext cx="21844000" cy="3175000"/>
            </a:xfrm>
            <a:custGeom>
              <a:avLst/>
              <a:gdLst/>
              <a:ahLst/>
              <a:cxnLst/>
              <a:rect r="r" b="b" t="t" l="l"/>
              <a:pathLst>
                <a:path h="3175000" w="21844000">
                  <a:moveTo>
                    <a:pt x="317500" y="0"/>
                  </a:moveTo>
                  <a:lnTo>
                    <a:pt x="21526500" y="0"/>
                  </a:lnTo>
                  <a:cubicBezTo>
                    <a:pt x="21701851" y="0"/>
                    <a:pt x="21844000" y="142150"/>
                    <a:pt x="21844000" y="317500"/>
                  </a:cubicBezTo>
                  <a:lnTo>
                    <a:pt x="21844000" y="2857500"/>
                  </a:lnTo>
                  <a:cubicBezTo>
                    <a:pt x="21844000" y="3032850"/>
                    <a:pt x="21701851" y="3175000"/>
                    <a:pt x="21526500" y="3175000"/>
                  </a:cubicBezTo>
                  <a:lnTo>
                    <a:pt x="317500" y="3175000"/>
                  </a:lnTo>
                  <a:cubicBezTo>
                    <a:pt x="142150" y="3175000"/>
                    <a:pt x="0" y="3032850"/>
                    <a:pt x="0" y="2857500"/>
                  </a:cubicBezTo>
                  <a:lnTo>
                    <a:pt x="0" y="317500"/>
                  </a:lnTo>
                  <a:cubicBezTo>
                    <a:pt x="0" y="142150"/>
                    <a:pt x="142150" y="0"/>
                    <a:pt x="317500" y="0"/>
                  </a:cubicBezTo>
                  <a:close/>
                </a:path>
              </a:pathLst>
            </a:custGeom>
            <a:solidFill>
              <a:srgbClr val="F0F4F8"/>
            </a:solidFill>
            <a:ln w="9525" cap="sq">
              <a:solidFill>
                <a:srgbClr val="D0DCE8"/>
              </a:solidFill>
              <a:prstDash val="solid"/>
              <a:miter/>
            </a:ln>
          </p:spPr>
        </p:sp>
        <p:sp>
          <p:nvSpPr>
            <p:cNvPr name="TextBox 8" id="8"/>
            <p:cNvSpPr txBox="true"/>
            <p:nvPr/>
          </p:nvSpPr>
          <p:spPr>
            <a:xfrm>
              <a:off x="0" y="-38100"/>
              <a:ext cx="21844000" cy="3213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524000" y="2400300"/>
            <a:ext cx="15240000" cy="434340"/>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0066B3"/>
                </a:solidFill>
                <a:latin typeface="Telegraf"/>
                <a:ea typeface="Telegraf"/>
                <a:cs typeface="Telegraf"/>
                <a:sym typeface="Telegraf"/>
              </a:rPr>
              <a:t>⚠️ Kompleksitas Sistem</a:t>
            </a:r>
          </a:p>
        </p:txBody>
      </p:sp>
      <p:sp>
        <p:nvSpPr>
          <p:cNvPr name="TextBox 10" id="10"/>
          <p:cNvSpPr txBox="true"/>
          <p:nvPr/>
        </p:nvSpPr>
        <p:spPr>
          <a:xfrm rot="0">
            <a:off x="1524000" y="2981325"/>
            <a:ext cx="15240000" cy="666115"/>
          </a:xfrm>
          <a:prstGeom prst="rect">
            <a:avLst/>
          </a:prstGeom>
        </p:spPr>
        <p:txBody>
          <a:bodyPr anchor="t" rtlCol="false" tIns="0" lIns="0" bIns="0" rIns="0">
            <a:spAutoFit/>
          </a:bodyPr>
          <a:lstStyle/>
          <a:p>
            <a:pPr algn="l" marL="0" indent="0" lvl="0">
              <a:lnSpc>
                <a:spcPts val="2720"/>
              </a:lnSpc>
              <a:spcBef>
                <a:spcPct val="0"/>
              </a:spcBef>
            </a:pPr>
            <a:r>
              <a:rPr lang="en-US" sz="1700" strike="noStrike" u="none">
                <a:solidFill>
                  <a:srgbClr val="4A5A6A"/>
                </a:solidFill>
                <a:latin typeface="Open Sans"/>
                <a:ea typeface="Open Sans"/>
                <a:cs typeface="Open Sans"/>
                <a:sym typeface="Open Sans"/>
              </a:rPr>
              <a:t>Arsitektur terdistribusi lebih sulit untuk di-maintain dan di-troubleshoot dibandingkan sistem monolitik. Dibutuhkan pemahaman mendalam tentang konsistensi data dan mekanisme replikasi.</a:t>
            </a:r>
          </a:p>
        </p:txBody>
      </p:sp>
      <p:grpSp>
        <p:nvGrpSpPr>
          <p:cNvPr name="Group 11" id="11"/>
          <p:cNvGrpSpPr/>
          <p:nvPr/>
        </p:nvGrpSpPr>
        <p:grpSpPr>
          <a:xfrm rot="0">
            <a:off x="952500" y="4953000"/>
            <a:ext cx="16383000" cy="2381250"/>
            <a:chOff x="0" y="0"/>
            <a:chExt cx="21844000" cy="3175000"/>
          </a:xfrm>
        </p:grpSpPr>
        <p:sp>
          <p:nvSpPr>
            <p:cNvPr name="Freeform 12" id="12"/>
            <p:cNvSpPr/>
            <p:nvPr/>
          </p:nvSpPr>
          <p:spPr>
            <a:xfrm flipH="false" flipV="false" rot="0">
              <a:off x="0" y="0"/>
              <a:ext cx="21844000" cy="3175000"/>
            </a:xfrm>
            <a:custGeom>
              <a:avLst/>
              <a:gdLst/>
              <a:ahLst/>
              <a:cxnLst/>
              <a:rect r="r" b="b" t="t" l="l"/>
              <a:pathLst>
                <a:path h="3175000" w="21844000">
                  <a:moveTo>
                    <a:pt x="317500" y="0"/>
                  </a:moveTo>
                  <a:lnTo>
                    <a:pt x="21526500" y="0"/>
                  </a:lnTo>
                  <a:cubicBezTo>
                    <a:pt x="21701851" y="0"/>
                    <a:pt x="21844000" y="142150"/>
                    <a:pt x="21844000" y="317500"/>
                  </a:cubicBezTo>
                  <a:lnTo>
                    <a:pt x="21844000" y="2857500"/>
                  </a:lnTo>
                  <a:cubicBezTo>
                    <a:pt x="21844000" y="3032850"/>
                    <a:pt x="21701851" y="3175000"/>
                    <a:pt x="21526500" y="3175000"/>
                  </a:cubicBezTo>
                  <a:lnTo>
                    <a:pt x="317500" y="3175000"/>
                  </a:lnTo>
                  <a:cubicBezTo>
                    <a:pt x="142150" y="3175000"/>
                    <a:pt x="0" y="3032850"/>
                    <a:pt x="0" y="2857500"/>
                  </a:cubicBezTo>
                  <a:lnTo>
                    <a:pt x="0" y="317500"/>
                  </a:lnTo>
                  <a:cubicBezTo>
                    <a:pt x="0" y="142150"/>
                    <a:pt x="142150" y="0"/>
                    <a:pt x="317500" y="0"/>
                  </a:cubicBezTo>
                  <a:close/>
                </a:path>
              </a:pathLst>
            </a:custGeom>
            <a:solidFill>
              <a:srgbClr val="F0F4F8"/>
            </a:solidFill>
            <a:ln w="9525" cap="sq">
              <a:solidFill>
                <a:srgbClr val="D0DCE8"/>
              </a:solidFill>
              <a:prstDash val="solid"/>
              <a:miter/>
            </a:ln>
          </p:spPr>
        </p:sp>
        <p:sp>
          <p:nvSpPr>
            <p:cNvPr name="TextBox 13" id="13"/>
            <p:cNvSpPr txBox="true"/>
            <p:nvPr/>
          </p:nvSpPr>
          <p:spPr>
            <a:xfrm>
              <a:off x="0" y="-38100"/>
              <a:ext cx="21844000" cy="3213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524000" y="5257800"/>
            <a:ext cx="15240000" cy="434340"/>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0066B3"/>
                </a:solidFill>
                <a:latin typeface="Telegraf"/>
                <a:ea typeface="Telegraf"/>
                <a:cs typeface="Telegraf"/>
                <a:sym typeface="Telegraf"/>
              </a:rPr>
              <a:t>🌐 Ketergantungan Jaringan</a:t>
            </a:r>
          </a:p>
        </p:txBody>
      </p:sp>
      <p:sp>
        <p:nvSpPr>
          <p:cNvPr name="TextBox 15" id="15"/>
          <p:cNvSpPr txBox="true"/>
          <p:nvPr/>
        </p:nvSpPr>
        <p:spPr>
          <a:xfrm rot="0">
            <a:off x="1524000" y="5838825"/>
            <a:ext cx="15240000" cy="666115"/>
          </a:xfrm>
          <a:prstGeom prst="rect">
            <a:avLst/>
          </a:prstGeom>
        </p:spPr>
        <p:txBody>
          <a:bodyPr anchor="t" rtlCol="false" tIns="0" lIns="0" bIns="0" rIns="0">
            <a:spAutoFit/>
          </a:bodyPr>
          <a:lstStyle/>
          <a:p>
            <a:pPr algn="l" marL="0" indent="0" lvl="0">
              <a:lnSpc>
                <a:spcPts val="2720"/>
              </a:lnSpc>
              <a:spcBef>
                <a:spcPct val="0"/>
              </a:spcBef>
            </a:pPr>
            <a:r>
              <a:rPr lang="en-US" sz="1700" strike="noStrike" u="none">
                <a:solidFill>
                  <a:srgbClr val="4A5A6A"/>
                </a:solidFill>
                <a:latin typeface="Open Sans"/>
                <a:ea typeface="Open Sans"/>
                <a:cs typeface="Open Sans"/>
                <a:sym typeface="Open Sans"/>
              </a:rPr>
              <a:t>Sinkronisasi antar node sangat bergantung pada kualitas jaringan. Latensi tinggi atau gangguan koneksi dapat menyebabkan inkonsistensi data sementara.</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62000" y="-762000"/>
            <a:ext cx="2381250" cy="2381250"/>
            <a:chOff x="0" y="0"/>
            <a:chExt cx="3175000" cy="3175000"/>
          </a:xfrm>
        </p:grpSpPr>
        <p:sp>
          <p:nvSpPr>
            <p:cNvPr name="Freeform 3" id="3"/>
            <p:cNvSpPr/>
            <p:nvPr/>
          </p:nvSpPr>
          <p:spPr>
            <a:xfrm flipH="false" flipV="false" rot="0">
              <a:off x="0" y="0"/>
              <a:ext cx="3175000" cy="3175000"/>
            </a:xfrm>
            <a:custGeom>
              <a:avLst/>
              <a:gdLst/>
              <a:ahLst/>
              <a:cxnLst/>
              <a:rect r="r" b="b" t="t" l="l"/>
              <a:pathLst>
                <a:path h="3175000" w="3175000">
                  <a:moveTo>
                    <a:pt x="1587500" y="0"/>
                  </a:moveTo>
                  <a:cubicBezTo>
                    <a:pt x="710748" y="0"/>
                    <a:pt x="0" y="710748"/>
                    <a:pt x="0" y="1587500"/>
                  </a:cubicBezTo>
                  <a:cubicBezTo>
                    <a:pt x="0" y="2464252"/>
                    <a:pt x="710748" y="3175000"/>
                    <a:pt x="1587500" y="3175000"/>
                  </a:cubicBezTo>
                  <a:cubicBezTo>
                    <a:pt x="2464252" y="3175000"/>
                    <a:pt x="3175000" y="2464252"/>
                    <a:pt x="3175000" y="1587500"/>
                  </a:cubicBezTo>
                  <a:cubicBezTo>
                    <a:pt x="3175000" y="710748"/>
                    <a:pt x="2464252" y="0"/>
                    <a:pt x="1587500" y="0"/>
                  </a:cubicBezTo>
                  <a:close/>
                </a:path>
              </a:pathLst>
            </a:custGeom>
            <a:solidFill>
              <a:srgbClr val="0066B3">
                <a:alpha val="7843"/>
              </a:srgbClr>
            </a:solidFill>
          </p:spPr>
        </p:sp>
        <p:sp>
          <p:nvSpPr>
            <p:cNvPr name="TextBox 4" id="4"/>
            <p:cNvSpPr txBox="true"/>
            <p:nvPr/>
          </p:nvSpPr>
          <p:spPr>
            <a:xfrm>
              <a:off x="0" y="-38100"/>
              <a:ext cx="3175000" cy="3213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5240000" y="7143750"/>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1905000" y="0"/>
                  </a:moveTo>
                  <a:cubicBezTo>
                    <a:pt x="852898" y="0"/>
                    <a:pt x="0" y="852898"/>
                    <a:pt x="0" y="1905000"/>
                  </a:cubicBezTo>
                  <a:cubicBezTo>
                    <a:pt x="0" y="2957102"/>
                    <a:pt x="852898" y="3810000"/>
                    <a:pt x="1905000" y="3810000"/>
                  </a:cubicBezTo>
                  <a:cubicBezTo>
                    <a:pt x="2957102" y="3810000"/>
                    <a:pt x="3810000" y="2957102"/>
                    <a:pt x="3810000" y="1905000"/>
                  </a:cubicBezTo>
                  <a:cubicBezTo>
                    <a:pt x="3810000" y="852898"/>
                    <a:pt x="2957102" y="0"/>
                    <a:pt x="1905000" y="0"/>
                  </a:cubicBezTo>
                  <a:close/>
                </a:path>
              </a:pathLst>
            </a:custGeom>
            <a:solidFill>
              <a:srgbClr val="E94E1B">
                <a:alpha val="7843"/>
              </a:srgbClr>
            </a:solidFill>
          </p:spPr>
        </p:sp>
        <p:sp>
          <p:nvSpPr>
            <p:cNvPr name="TextBox 7" id="7"/>
            <p:cNvSpPr txBox="true"/>
            <p:nvPr/>
          </p:nvSpPr>
          <p:spPr>
            <a:xfrm>
              <a:off x="0" y="-38100"/>
              <a:ext cx="3810000" cy="3848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4381500" y="3133725"/>
            <a:ext cx="9525000" cy="1170940"/>
          </a:xfrm>
          <a:prstGeom prst="rect">
            <a:avLst/>
          </a:prstGeom>
        </p:spPr>
        <p:txBody>
          <a:bodyPr anchor="t" rtlCol="false" tIns="0" lIns="0" bIns="0" rIns="0">
            <a:spAutoFit/>
          </a:bodyPr>
          <a:lstStyle/>
          <a:p>
            <a:pPr algn="ctr" marL="0" indent="0" lvl="0">
              <a:lnSpc>
                <a:spcPts val="8959"/>
              </a:lnSpc>
              <a:spcBef>
                <a:spcPct val="0"/>
              </a:spcBef>
            </a:pPr>
            <a:r>
              <a:rPr lang="en-US" sz="6399" strike="noStrike" u="none">
                <a:solidFill>
                  <a:srgbClr val="1A2A3A"/>
                </a:solidFill>
                <a:latin typeface="Telegraf"/>
                <a:ea typeface="Telegraf"/>
                <a:cs typeface="Telegraf"/>
                <a:sym typeface="Telegraf"/>
              </a:rPr>
              <a:t>Terima Kasih</a:t>
            </a:r>
          </a:p>
        </p:txBody>
      </p:sp>
      <p:grpSp>
        <p:nvGrpSpPr>
          <p:cNvPr name="Group 9" id="9"/>
          <p:cNvGrpSpPr/>
          <p:nvPr/>
        </p:nvGrpSpPr>
        <p:grpSpPr>
          <a:xfrm rot="0">
            <a:off x="8763000" y="4191000"/>
            <a:ext cx="762000" cy="38100"/>
            <a:chOff x="0" y="0"/>
            <a:chExt cx="1016000" cy="50800"/>
          </a:xfrm>
        </p:grpSpPr>
        <p:sp>
          <p:nvSpPr>
            <p:cNvPr name="Freeform 10" id="10"/>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E94E1B"/>
            </a:solidFill>
          </p:spPr>
        </p:sp>
        <p:sp>
          <p:nvSpPr>
            <p:cNvPr name="TextBox 11" id="11"/>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5334000" y="5276850"/>
            <a:ext cx="7620000" cy="1051560"/>
          </a:xfrm>
          <a:prstGeom prst="rect">
            <a:avLst/>
          </a:prstGeom>
        </p:spPr>
        <p:txBody>
          <a:bodyPr anchor="t" rtlCol="false" tIns="0" lIns="0" bIns="0" rIns="0">
            <a:spAutoFit/>
          </a:bodyPr>
          <a:lstStyle/>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Andita Aditia</a:t>
            </a:r>
          </a:p>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NIM 20230801318</a:t>
            </a:r>
          </a:p>
          <a:p>
            <a:pPr algn="ctr" marL="0" indent="0" lvl="0">
              <a:lnSpc>
                <a:spcPts val="2880"/>
              </a:lnSpc>
              <a:spcBef>
                <a:spcPct val="0"/>
              </a:spcBef>
            </a:pPr>
            <a:r>
              <a:rPr lang="en-US" sz="1800" strike="noStrike" u="none">
                <a:solidFill>
                  <a:srgbClr val="4A5A6A"/>
                </a:solidFill>
                <a:latin typeface="Open Sans"/>
                <a:ea typeface="Open Sans"/>
                <a:cs typeface="Open Sans"/>
                <a:sym typeface="Open Sans"/>
              </a:rPr>
              <a:t>Teknik Informatika - Universitas Esa Unggul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DAHPsAec318</dc:identifier>
  <dcterms:modified xsi:type="dcterms:W3CDTF">2011-08-01T06:04:30Z</dcterms:modified>
  <cp:revision>1</cp:revision>
  <dc:title>Perbaikan Presentasi yang Lebih Menarik</dc:title>
</cp:coreProperties>
</file>