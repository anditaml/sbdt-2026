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image" Target="../media/image9.png"/><Relationship Id="rId7" Type="http://schemas.openxmlformats.org/officeDocument/2006/relationships/image" Target="../media/image10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Relationship Id="rId4" Type="http://schemas.openxmlformats.org/officeDocument/2006/relationships/image" Target="../media/image13.png"/><Relationship Id="rId5" Type="http://schemas.openxmlformats.org/officeDocument/2006/relationships/image" Target="../media/image14.png"/><Relationship Id="rId6" Type="http://schemas.openxmlformats.org/officeDocument/2006/relationships/image" Target="../media/image15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Relationship Id="rId3" Type="http://schemas.openxmlformats.org/officeDocument/2006/relationships/image" Target="../media/image17.png"/><Relationship Id="rId4" Type="http://schemas.openxmlformats.org/officeDocument/2006/relationships/image" Target="../media/image18.png"/><Relationship Id="rId5" Type="http://schemas.openxmlformats.org/officeDocument/2006/relationships/image" Target="../media/image19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Relationship Id="rId3" Type="http://schemas.openxmlformats.org/officeDocument/2006/relationships/image" Target="../media/image2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5000" y="3897510"/>
            <a:ext cx="8382000" cy="13335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3950" y="1207740"/>
            <a:ext cx="9944100" cy="451857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0033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695450" y="1703040"/>
            <a:ext cx="8801100" cy="1257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4950"/>
              </a:lnSpc>
            </a:pPr>
            <a:r>
              <a:rPr b="1" sz="4125" i="0" u="none">
                <a:solidFill>
                  <a:srgbClr val="003366"/>
                </a:solidFill>
                <a:latin typeface="Poppins"/>
              </a:rPr>
              <a:t>Rancang Bangun Sistem</a:t>
            </a:r>
            <a:r>
              <a:t>
</a:t>
            </a:r>
            <a:r>
              <a:rPr b="1" sz="4125" i="0" u="none">
                <a:solidFill>
                  <a:srgbClr val="003366"/>
                </a:solidFill>
                <a:latin typeface="Poppins"/>
              </a:rPr>
              <a:t> Formula Parfum Terdistribusi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905000" y="3150840"/>
            <a:ext cx="8382000" cy="3656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879"/>
              </a:lnSpc>
            </a:pPr>
            <a:r>
              <a:rPr b="0" sz="1800" i="0" u="none">
                <a:solidFill>
                  <a:srgbClr val="334155"/>
                </a:solidFill>
                <a:latin typeface="Lato"/>
              </a:rPr>
              <a:t>Arsitektur Primary-Replica untuk Ketersediaan Tinggi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91400" y="2066925"/>
            <a:ext cx="4229100" cy="3810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0033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95325" y="2066925"/>
            <a:ext cx="1143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500" i="0" u="none">
                <a:solidFill>
                  <a:srgbClr val="334155"/>
                </a:solidFill>
                <a:latin typeface="Lato"/>
              </a:rPr>
              <a:t>•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9625" y="2066925"/>
            <a:ext cx="6105525" cy="609600"/>
          </a:xfrm>
          <a:prstGeom prst="rect">
            <a:avLst/>
          </a:prstGeom>
          <a:noFill/>
        </p:spPr>
        <p:txBody>
          <a:bodyPr wrap="square" lIns="11430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0" sz="1500" i="0" u="none">
                <a:solidFill>
                  <a:srgbClr val="334155"/>
                </a:solidFill>
                <a:latin typeface="Lato"/>
              </a:rPr>
              <a:t>Mengelola formula parfum yang presisi membutuhkan sistem pencatatan yang </a:t>
            </a:r>
            <a:r>
              <a:rPr b="1" sz="1500" i="0" u="none">
                <a:solidFill>
                  <a:srgbClr val="334155"/>
                </a:solidFill>
                <a:latin typeface="Lato"/>
              </a:rPr>
              <a:t>andal dan aman</a:t>
            </a:r>
            <a:r>
              <a:rPr b="0" sz="1500" i="0" u="none">
                <a:solidFill>
                  <a:srgbClr val="334155"/>
                </a:solidFill>
                <a:latin typeface="Lato"/>
              </a:rPr>
              <a:t>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95325" y="2867025"/>
            <a:ext cx="1143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500" i="0" u="none">
                <a:solidFill>
                  <a:srgbClr val="334155"/>
                </a:solidFill>
                <a:latin typeface="Lato"/>
              </a:rPr>
              <a:t>•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9625" y="2867025"/>
            <a:ext cx="6105525" cy="609600"/>
          </a:xfrm>
          <a:prstGeom prst="rect">
            <a:avLst/>
          </a:prstGeom>
          <a:noFill/>
        </p:spPr>
        <p:txBody>
          <a:bodyPr wrap="square" lIns="11430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0" sz="1500" i="0" u="none">
                <a:solidFill>
                  <a:srgbClr val="334155"/>
                </a:solidFill>
                <a:latin typeface="Lato"/>
              </a:rPr>
              <a:t>Sistem monolitik biasa rentan terhadap gangguan (Single Point of Failure). Jika server mati, produksi terhenti.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5325" y="3667125"/>
            <a:ext cx="1143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500" i="0" u="none">
                <a:solidFill>
                  <a:srgbClr val="334155"/>
                </a:solidFill>
                <a:latin typeface="Lato"/>
              </a:rPr>
              <a:t>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9625" y="3667125"/>
            <a:ext cx="6105525" cy="609600"/>
          </a:xfrm>
          <a:prstGeom prst="rect">
            <a:avLst/>
          </a:prstGeom>
          <a:noFill/>
        </p:spPr>
        <p:txBody>
          <a:bodyPr wrap="square" lIns="11430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0" sz="1500" i="0" u="none">
                <a:solidFill>
                  <a:srgbClr val="334155"/>
                </a:solidFill>
                <a:latin typeface="Lato"/>
              </a:rPr>
              <a:t>Kami merancang </a:t>
            </a:r>
            <a:r>
              <a:rPr b="1" sz="1500" i="0" u="none">
                <a:solidFill>
                  <a:srgbClr val="334155"/>
                </a:solidFill>
                <a:latin typeface="Lato"/>
              </a:rPr>
              <a:t>sistem terdistribusi</a:t>
            </a:r>
            <a:r>
              <a:rPr b="0" sz="1500" i="0" u="none">
                <a:solidFill>
                  <a:srgbClr val="334155"/>
                </a:solidFill>
                <a:latin typeface="Lato"/>
              </a:rPr>
              <a:t> untuk menjamin High Availability (Ketersediaan Tinggi).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5325" y="4467225"/>
            <a:ext cx="1143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500" i="0" u="none">
                <a:solidFill>
                  <a:srgbClr val="334155"/>
                </a:solidFill>
                <a:latin typeface="Lato"/>
              </a:rPr>
              <a:t>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9625" y="4467225"/>
            <a:ext cx="6105525" cy="609600"/>
          </a:xfrm>
          <a:prstGeom prst="rect">
            <a:avLst/>
          </a:prstGeom>
          <a:noFill/>
        </p:spPr>
        <p:txBody>
          <a:bodyPr wrap="square" lIns="11430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0" sz="1500" i="0" u="none">
                <a:solidFill>
                  <a:srgbClr val="334155"/>
                </a:solidFill>
                <a:latin typeface="Lato"/>
              </a:rPr>
              <a:t>Arsitektur ini memastikan data formula selalu dapat diakses secara real-time kapan pun dibutuhkan.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91400" y="2066925"/>
            <a:ext cx="4229100" cy="38100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71500" y="647700"/>
            <a:ext cx="11601450" cy="628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3150" i="0" u="none">
                <a:solidFill>
                  <a:srgbClr val="003366"/>
                </a:solidFill>
                <a:latin typeface="Poppins"/>
              </a:rPr>
              <a:t>Latar Belakang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71500" y="1343025"/>
            <a:ext cx="11049000" cy="28575"/>
          </a:xfrm>
          <a:prstGeom prst="rect">
            <a:avLst/>
          </a:prstGeom>
          <a:solidFill>
            <a:srgbClr val="EAB3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2195512"/>
            <a:ext cx="3492549" cy="3552825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49799" y="2195512"/>
            <a:ext cx="3492549" cy="355282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28099" y="2195512"/>
            <a:ext cx="3492549" cy="3552825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0033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2553" y="3452812"/>
            <a:ext cx="2350293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2100" i="0" u="none">
                <a:solidFill>
                  <a:srgbClr val="003366"/>
                </a:solidFill>
                <a:latin typeface="Poppins SemiBold"/>
              </a:rPr>
              <a:t>Primary-Replica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6775" y="3995737"/>
            <a:ext cx="2901999" cy="1219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400"/>
              </a:lnSpc>
            </a:pPr>
            <a:r>
              <a:rPr b="0" sz="1500" i="0" u="none">
                <a:solidFill>
                  <a:srgbClr val="334155"/>
                </a:solidFill>
                <a:latin typeface="Lato"/>
              </a:rPr>
              <a:t>Arsitektur database yang menjamin replikasi data dengan cepat, mencegah hilangnya data jika salah satu node mengalami masalah.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65846" y="3452812"/>
            <a:ext cx="2460307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2100" i="0" u="none">
                <a:solidFill>
                  <a:srgbClr val="003366"/>
                </a:solidFill>
                <a:latin typeface="Poppins SemiBold"/>
              </a:rPr>
              <a:t>Docker Compose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45074" y="3995737"/>
            <a:ext cx="2901999" cy="1219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400"/>
              </a:lnSpc>
            </a:pPr>
            <a:r>
              <a:rPr b="0" sz="1500" i="0" u="none">
                <a:solidFill>
                  <a:srgbClr val="334155"/>
                </a:solidFill>
                <a:latin typeface="Lato"/>
              </a:rPr>
              <a:t>Mempermudah deployment dan orkestrasi aplikasi. Menjamin sistem berjalan konsisten di semua lingkungan server.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64223" y="3452812"/>
            <a:ext cx="1220152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2100" i="0" u="none">
                <a:solidFill>
                  <a:srgbClr val="003366"/>
                </a:solidFill>
                <a:latin typeface="Poppins SemiBold"/>
              </a:rPr>
              <a:t>Firebase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23374" y="3995737"/>
            <a:ext cx="2901999" cy="1219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400"/>
              </a:lnSpc>
            </a:pPr>
            <a:r>
              <a:rPr b="0" sz="1500" i="0" u="none">
                <a:solidFill>
                  <a:srgbClr val="334155"/>
                </a:solidFill>
                <a:latin typeface="Lato"/>
              </a:rPr>
              <a:t>Platform backend mutakhir untuk melakukan sinkronisasi data formula parfum secara real-time ke semua node yang terhubung.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55762" y="2643187"/>
            <a:ext cx="523875" cy="523875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67387" y="2643187"/>
            <a:ext cx="657225" cy="523875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645699" y="2643187"/>
            <a:ext cx="457200" cy="523875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571500" y="647700"/>
            <a:ext cx="11601450" cy="628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3150" i="0" u="none">
                <a:solidFill>
                  <a:srgbClr val="003366"/>
                </a:solidFill>
                <a:latin typeface="Poppins"/>
              </a:rPr>
              <a:t>Teknologi Utama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71500" y="1343025"/>
            <a:ext cx="11049000" cy="28575"/>
          </a:xfrm>
          <a:prstGeom prst="rect">
            <a:avLst/>
          </a:prstGeom>
          <a:solidFill>
            <a:srgbClr val="EAB3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3500" y="1895475"/>
            <a:ext cx="9525000" cy="41529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0033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47900" y="2276475"/>
            <a:ext cx="8229600" cy="609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1" sz="1500" i="0" u="none">
                <a:solidFill>
                  <a:srgbClr val="003366"/>
                </a:solidFill>
                <a:latin typeface="Lato"/>
              </a:rPr>
              <a:t>Ketersediaan Tinggi (High Availability):</a:t>
            </a:r>
            <a:r>
              <a:rPr b="0" sz="1500" i="0" u="none">
                <a:solidFill>
                  <a:srgbClr val="334155"/>
                </a:solidFill>
                <a:latin typeface="Lato"/>
              </a:rPr>
              <a:t> Sistem dirancang agar tetap berjalan normal meskipun salah satu node/server mengalami gangguan down.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47900" y="3124200"/>
            <a:ext cx="8229600" cy="609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1" sz="1500" i="0" u="none">
                <a:solidFill>
                  <a:srgbClr val="003366"/>
                </a:solidFill>
                <a:latin typeface="Lato"/>
              </a:rPr>
              <a:t>Real-time Synchronization:</a:t>
            </a:r>
            <a:r>
              <a:rPr b="0" sz="1500" i="0" u="none">
                <a:solidFill>
                  <a:srgbClr val="334155"/>
                </a:solidFill>
                <a:latin typeface="Lato"/>
              </a:rPr>
              <a:t> Dukungan Firebase memastikan setiap pembaruan atau penambahan formula langsung tersinkron secara instan.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47900" y="3971925"/>
            <a:ext cx="8229600" cy="609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1" sz="1500" i="0" u="none">
                <a:solidFill>
                  <a:srgbClr val="003366"/>
                </a:solidFill>
                <a:latin typeface="Lato"/>
              </a:rPr>
              <a:t>Deployment Cepat:</a:t>
            </a:r>
            <a:r>
              <a:rPr b="0" sz="1500" i="0" u="none">
                <a:solidFill>
                  <a:srgbClr val="334155"/>
                </a:solidFill>
                <a:latin typeface="Lato"/>
              </a:rPr>
              <a:t> Dengan Docker Compose, proses instalasi dan pembaruan versi aplikasi dapat dilakukan dalam hitungan menit tanpa error konfigurasi.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47900" y="4819650"/>
            <a:ext cx="8229600" cy="609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1" sz="1500" i="0" u="none">
                <a:solidFill>
                  <a:srgbClr val="003366"/>
                </a:solidFill>
                <a:latin typeface="Lato"/>
              </a:rPr>
              <a:t>Skalabilitas Terjamin:</a:t>
            </a:r>
            <a:r>
              <a:rPr b="0" sz="1500" i="0" u="none">
                <a:solidFill>
                  <a:srgbClr val="334155"/>
                </a:solidFill>
                <a:latin typeface="Lato"/>
              </a:rPr>
              <a:t> Sistem sangat fleksibel untuk diperbesar (scale-out) seiring dengan bertambahnya jumlah formula dan cabang laboratorium.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71650" y="2290762"/>
            <a:ext cx="266700" cy="276225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71650" y="3138487"/>
            <a:ext cx="238125" cy="276225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71650" y="3986212"/>
            <a:ext cx="266700" cy="276225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771650" y="4833937"/>
            <a:ext cx="304800" cy="276225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71500" y="647700"/>
            <a:ext cx="11601450" cy="628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3150" i="0" u="none">
                <a:solidFill>
                  <a:srgbClr val="003366"/>
                </a:solidFill>
                <a:latin typeface="Poppins"/>
              </a:rPr>
              <a:t>Keunggulan Web/Sistem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71500" y="1343025"/>
            <a:ext cx="11049000" cy="28575"/>
          </a:xfrm>
          <a:prstGeom prst="rect">
            <a:avLst/>
          </a:prstGeom>
          <a:solidFill>
            <a:srgbClr val="EAB3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2457450"/>
            <a:ext cx="5286375" cy="302895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4125" y="2457450"/>
            <a:ext cx="5286375" cy="302895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0033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2025" y="2886075"/>
            <a:ext cx="4730591" cy="400050"/>
          </a:xfrm>
          <a:prstGeom prst="rect">
            <a:avLst/>
          </a:prstGeom>
          <a:noFill/>
        </p:spPr>
        <p:txBody>
          <a:bodyPr wrap="square" lIns="361950" rIns="0" tIns="0" bIns="0" anchor="t">
            <a:spAutoFit/>
          </a:bodyPr>
          <a:lstStyle/>
          <a:p>
            <a:pPr algn="l"/>
            <a:r>
              <a:rPr b="0" sz="2100" i="0" u="none">
                <a:solidFill>
                  <a:srgbClr val="003366"/>
                </a:solidFill>
                <a:latin typeface="Poppins SemiBold"/>
              </a:rPr>
              <a:t>Kompleksitas Sistem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2025" y="3429000"/>
            <a:ext cx="4505325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0" sz="1500" i="0" u="none">
                <a:solidFill>
                  <a:srgbClr val="334155"/>
                </a:solidFill>
                <a:latin typeface="Lato"/>
              </a:rPr>
              <a:t>Arsitektur terdistribusi (Primary-Replica) jauh lebih rumit untuk dikembangkan, dipelihara, dan di-troubleshoot dibandingkan dengan aplikasi web monolitik sederhana. Membutuhkan SDM dengan pemahaman jaringan yang kuat.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24650" y="2886075"/>
            <a:ext cx="4730591" cy="400050"/>
          </a:xfrm>
          <a:prstGeom prst="rect">
            <a:avLst/>
          </a:prstGeom>
          <a:noFill/>
        </p:spPr>
        <p:txBody>
          <a:bodyPr wrap="square" lIns="428625" rIns="0" tIns="0" bIns="0" anchor="t">
            <a:spAutoFit/>
          </a:bodyPr>
          <a:lstStyle/>
          <a:p>
            <a:pPr algn="l"/>
            <a:r>
              <a:rPr b="0" sz="2100" i="0" u="none">
                <a:solidFill>
                  <a:srgbClr val="003366"/>
                </a:solidFill>
                <a:latin typeface="Poppins SemiBold"/>
              </a:rPr>
              <a:t>Ketergantungan Jaringan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24650" y="3429000"/>
            <a:ext cx="4505325" cy="1219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0" sz="1500" i="0" u="none">
                <a:solidFill>
                  <a:srgbClr val="334155"/>
                </a:solidFill>
                <a:latin typeface="Lato"/>
              </a:rPr>
              <a:t>Proses sinkronisasi dan replikasi formula antar node sangat bergantung pada kualitas dan latensi jaringan internet. Gangguan sinyal dapat menyebabkan data menjadi tidak sinkron sesaat (Eventual Consistency).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2025" y="2943225"/>
            <a:ext cx="266700" cy="2667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24650" y="2943225"/>
            <a:ext cx="333375" cy="2667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71500" y="647700"/>
            <a:ext cx="11601450" cy="628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3150" i="0" u="none">
                <a:solidFill>
                  <a:srgbClr val="003366"/>
                </a:solidFill>
                <a:latin typeface="Poppins"/>
              </a:rPr>
              <a:t>Kekurangan &amp; Tantangan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71500" y="1343025"/>
            <a:ext cx="11049000" cy="28575"/>
          </a:xfrm>
          <a:prstGeom prst="rect">
            <a:avLst/>
          </a:prstGeom>
          <a:solidFill>
            <a:srgbClr val="EAB3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1500" y="571500"/>
            <a:ext cx="5550693" cy="628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3150" i="0" u="none">
                <a:solidFill>
                  <a:srgbClr val="003366"/>
                </a:solidFill>
                <a:latin typeface="Poppins"/>
              </a:rPr>
              <a:t>Kesimpulan &amp; Progres</a:t>
            </a:r>
          </a:p>
        </p:txBody>
      </p:sp>
      <p:sp>
        <p:nvSpPr>
          <p:cNvPr id="3" name="Rectangle 2"/>
          <p:cNvSpPr/>
          <p:nvPr/>
        </p:nvSpPr>
        <p:spPr>
          <a:xfrm>
            <a:off x="571500" y="1266825"/>
            <a:ext cx="5286375" cy="28575"/>
          </a:xfrm>
          <a:prstGeom prst="rect">
            <a:avLst/>
          </a:prstGeom>
          <a:solidFill>
            <a:srgbClr val="EAB3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34125" y="0"/>
            <a:ext cx="5857875" cy="6858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71500" y="2565201"/>
            <a:ext cx="5550693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2100" i="0" u="none">
                <a:solidFill>
                  <a:srgbClr val="003366"/>
                </a:solidFill>
                <a:latin typeface="Poppins SemiBold"/>
              </a:rPr>
              <a:t>Status Proyek: Masih Progres (WIP)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1500" y="3108126"/>
            <a:ext cx="5286375" cy="609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0" sz="1500" i="0" u="none">
                <a:solidFill>
                  <a:srgbClr val="334155"/>
                </a:solidFill>
                <a:latin typeface="Lato"/>
              </a:rPr>
              <a:t>Hingga tahap ini, sistem formula parfum terdistribusi </a:t>
            </a:r>
            <a:r>
              <a:rPr b="1" sz="1500" i="0" u="none">
                <a:solidFill>
                  <a:srgbClr val="334155"/>
                </a:solidFill>
                <a:latin typeface="Lato"/>
              </a:rPr>
              <a:t>masih dalam tahap pengembangan dan pengujian</a:t>
            </a:r>
            <a:r>
              <a:rPr b="0" sz="1500" i="0" u="none">
                <a:solidFill>
                  <a:srgbClr val="334155"/>
                </a:solidFill>
                <a:latin typeface="Lato"/>
              </a:rPr>
              <a:t>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" y="3900487"/>
            <a:ext cx="5286375" cy="1219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0" sz="1500" i="0" u="none">
                <a:solidFill>
                  <a:srgbClr val="334155"/>
                </a:solidFill>
                <a:latin typeface="Lato"/>
              </a:rPr>
              <a:t>Fokus utama saat ini adalah menyempurnakan konfigurasi </a:t>
            </a:r>
            <a:r>
              <a:rPr b="1" sz="1500" i="0" u="none">
                <a:solidFill>
                  <a:srgbClr val="334155"/>
                </a:solidFill>
                <a:latin typeface="Lato"/>
              </a:rPr>
              <a:t>Docker Compose</a:t>
            </a:r>
            <a:r>
              <a:rPr b="0" sz="1500" i="0" u="none">
                <a:solidFill>
                  <a:srgbClr val="334155"/>
                </a:solidFill>
                <a:latin typeface="Lato"/>
              </a:rPr>
              <a:t> untuk deployment otomatis, serta memastikan integrasi </a:t>
            </a:r>
            <a:r>
              <a:rPr b="1" sz="1500" i="0" u="none">
                <a:solidFill>
                  <a:srgbClr val="334155"/>
                </a:solidFill>
                <a:latin typeface="Lato"/>
              </a:rPr>
              <a:t>Firebase</a:t>
            </a:r>
            <a:r>
              <a:rPr b="0" sz="1500" i="0" u="none">
                <a:solidFill>
                  <a:srgbClr val="334155"/>
                </a:solidFill>
                <a:latin typeface="Lato"/>
              </a:rPr>
              <a:t> berjalan stabil untuk menjaga ketersediaan tinggi tanpa delay.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86087" y="4251870"/>
            <a:ext cx="6219825" cy="676275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0033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5275" y="2005905"/>
            <a:ext cx="11601450" cy="1009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5250" i="0" u="none">
                <a:solidFill>
                  <a:srgbClr val="003366"/>
                </a:solidFill>
                <a:latin typeface="Poppins"/>
              </a:rPr>
              <a:t>Terima Kasih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1500" y="3206055"/>
            <a:ext cx="11049000" cy="4266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3359"/>
              </a:lnSpc>
            </a:pPr>
            <a:r>
              <a:rPr b="1" sz="2100" i="0" u="none">
                <a:solidFill>
                  <a:srgbClr val="EAB308"/>
                </a:solidFill>
                <a:latin typeface="Lato"/>
              </a:rPr>
              <a:t>Sesi Tanya Jawab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86137" y="4489995"/>
            <a:ext cx="180975" cy="20955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